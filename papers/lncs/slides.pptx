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Quý Thầy Cô và các bạn. Em là Đỗ Nhất Linh, hôm nay em xin thay mặt nhóm trình bày đề tài 'Ứng dụng DisCoCat và mạch lượng tử biến phân để phân loại cảm xúc nhị phân trên các cụm từ ngắn của SST-2'. Nhóm gồm 3 thành viên: em — Linh, anh Lê Quang Thái và anh Huỳnh Tân, đều là học viên môn Xử lý Ngôn ngữ Tự nhiên tại Đại học Ngân hàng TP.HCM. Bài trình bày khoảng 25 phút, em xin phép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sao quantum NLP? Các mô hình ngôn ngữ lớn như BERT, GPT đều cần hàng trăm triệu tham số, vượt xa khả năng của phần cứng lượng tử NISQ hiện tại. DisCoCat thì khác: nó dựa trên cấu trúc ngữ pháp để hợp thành tensor từ vựng, ánh xạ tự nhiên xuống qubit. Trong nghiên cứu này, mô hình quantum của nhóm đạt 92.05% accuracy chỉ với 2,940 tham số — ít hơn 28 lần so với BiLSTM. Đây là điểm mạnh thực sự của QNLP trong kỷ nguyên NISQ.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đi vào kết quả, em xin nhắc lại DisCoCat trong 1 slide. Đầu tiên là tokenize câu thành các từ. Sau đó mỗi từ trở thành 1 box trong string diagram, và ngữ pháp trở thành các wire nối các box lại. Cuối cùng, áp dụng một ansatz functor để biến diagram thành mạch lượng tử biến phân: mỗi box trở thành 1 cổng quantum có tham số, mỗi wire trở thành 1 qubit. Điểm cốt lõi: cấu trúc ngữ pháp của câu chính là topology của mạch lượng tử.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cụ thể: phân loại cảm xúc nhị phân — POS hay NEG — trên các cụm từ ngắn từ 2 đến 5 token, lấy từ Stanford Sentiment Treebank. Tập dữ liệu được chia 5000 train, 400 dev, 400 test, cân bằng 50:50. Tại sao lại giới hạn 5 từ? Vì độ sâu mạch lượng tử tăng O(n²) theo độ dài câu, mà simulator CPU thì có hạn. Cụm từ ngắn vẫn giữ được cấu trúc thú vị như phủ định, modifier.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đóng góp 3 thứ chính. Thứ nhất, một pipeline reproducible đầy đủ từ raw data tới McNemar test, toàn bộ code mã nguồn mở. Thứ hai, một controlled grid 60 lần chạy quantum cộng với 3 baseline cổ điển trên cùng split dữ liệu, báo cáo mean ± std cho mỗi config. Thứ ba, và quan trọng nhất về mặt nghiên cứu, hai negative findings: Spider reader bão hòa ở 1 qubit, và Cups+IQP gặp barren plateau ở depth 2 ngay cả khi đã dùng learning rate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pipeline end-to-end. Bắt đầu từ câu input, tokenize, áp dụng lambeq reader để có string diagram, ánh xạ qua ansatz functor để có mạch quantum, chạy trên PennyLane simulator để có probability output, cuối cùng argmax ra label. Hai thiết kế chính được ablate trong nghiên cứu là chọn reader và chọn ansatz, với 3 độ sâu và 5 seeds — tổng cộng 60 quantum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tóm tắt pipeline tiền xử lý dữ liệu. Từ 37,883 phrase gốc, lọc dần xuống 5000 train, 400 dev, 400 test balanced 50:50. Điểm đáng chú ý là two-stage sampling: nhóm sample train trước, sau đó filter dev/test sao cho mọi từ trong dev/test đều xuất hiện trong train. Lý do: mỗi từ trong QNLP là một quantum parameter riêng. Nếu test có từ chưa thấy trong train thì model không có parameter để load lên, dẫn đến corrupt prediction. Đây là bài học rút ra trong quá trình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so sánh 2 readers của lambeq. Bên trái là Spiders reader: mọi từ là atomic type s, một spider Frobenius gộp tất cả lại. Cấu trúc đơn giản, mất thứ tự token, ít tham số. Bên phải là Cups reader: mỗi từ có pregroup type s.r ⊗ s, các cup contracts các right adjoint kề nhau. Cấu trúc phức tạp hơn, tôn trọng thứ tự token, mỗi box có nhiều qubit hơn. Hai cách composition này dẫn đến hành vi rất khác nhau khi train, như sẽ thấy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hình training cho mọi quantum run. Adam optimizer với learning rate 0.01, weight decay 1e-4, gradient clipping max norm 1.0. Có ReduceLROnPlateau scheduler giảm lr factor 0.5 khi dev loss không cải thiện trong 7 epoch. Tối đa 200 epoch với early stopping patience 20. Atomic types đều 1 qubit theo paper Lorenz 2021. Mỗi config chạy 5 seed độc lập. Tổng compute: 12 giờ cho 60 runs trên 1 máy CPU 8 core — không cần GPU hay hardware quantum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baseline cổ điển trên cùng dữ liệu. Logistic Regression với TF-IDF bigram đạt 94.25% — mạnh nhất, vì bigram bắt được negation pattern như 'not good' trực tiếp. BiLSTM 1 layer đạt 91.83% với 82 nghìn tham số. LR + GloVe-50d trung bình chỉ 84% nhưng cực kỳ compact với 51 tham số. Hết slide này là đầy đủ thanh đo để so quantum với.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kết quả chính trên test set 400 câu. Quantum-Spiders đạt 92.05% với chỉ 2940 tham số — ngang ngửa BiLSTM 91.83% nhưng dùng ít hơn 28 lần tham số. So với LR+TF-IDF mạnh nhất 94.25%, quantum chỉ kém 2.2 điểm. Cups+Sim14 các depth đều ổn định quanh 92%, nhưng tốn nhiều tham số hơn. Đáng chú ý: Cups+IQP-L2 sụp đổ về 62.8%, gần như random — đây là barren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parameter efficiency rất quan trọng cho thesis defense. Trục hoành là số tham số log scale, trục tung là test accuracy. Càng lên trên bên trái càng tốt — accuracy cao với ít tham số. Q-spiders red triangle nằm cùng tầm với BiLSTM ở 92%, nhưng nhỏ hơn 2 bậc độ lớn về tham số. Đây là điểm mạnh chính của QNLP trong NISQ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đầu tiên: spider saturation. Khi Spiders reader kết hợp với atomic type 1 qubit, mỗi từ trở thành 1 cổng đơn qubit. Mà cổng đơn qubit chỉ có tối đa 3 tham số tự do — tích các cổng đơn qubit lại vẫn là 1 cổng đơn qubit. Hệ quả là cả 6 cấu hình spiders, dù khác ansatz hay depth, đều cho ra cùng kết quả 92.05%. Đây không phải bug code, mà là tính chất biểu diễn. Bài học: muốn ablate ansatz trên Spiders, phải tăng qubit count hoặc đổi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thứ hai, mạnh hơn về mặt nghiên cứu: Cups+IQP rơi vào barren plateau ở depth 2. Cụ thể, cả 5 seed đều converge về 0.628 — chỉ hơn random 0.5 một chút — với độ lệch rất nhỏ 0.043. Đây là dấu hiệu kinh điển của barren plateau: không phải seed xui xẻo, mà là loss landscape có vùng phẳng hút mọi initialization. Đáng chú ý là L1 và L3 không khác biệt thống kê (p=0.79), nhưng L2 thì cực kỳ thấp. Sim14 thì ổn định ở mọi depth — topology của ansatz mới là yếu tố quyết định, không phải depth. Đây là một empirical confirmation cho prediction của McClean et al.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tổng kết toàn bộ kết quả trong một biểu đồ. Bar chart sắp xếp model theo accuracy tăng dần. Phía trên cùng là LR+TF-IDF với 94.25%, sau đó là Q-cups-sim14-L3, rồi Q-spiders, Sim14 các depth, BiLSTM, LR+GloVe, các Cups+IQP, và cuối cùng là Cups+IQP-L2 ở 62.8%. Màu đỏ là quantum, xanh là classical, xám là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lỗi chi tiết. Bên trái là heatmap accuracy theo độ dài câu — Cups+IQP-L2 nổi bật màu đỏ là barren plateau. Bên phải là so sánh error rate trên câu có negation và không có negation. LR+TF-IDF xử lý negation tốt nhất vì có bigram features bắt 'not' + từ kế tiếp. Quantum models nằm giữa — DisCoCat có nắm bắt được một phần ngữ cảnh negation nhưng không bằng bigram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muốn thẳng thắn về limitations. Một là câu chỉ tối đa 5 từ. Hai là vocab capped ở 1000 từ — câu chứa từ hiếm bị filter. Ba là simulator noiseless, chưa test trên hardware có nhiễu thật. Bốn là atomic type 1 qubit — chính là nguyên nhân Spiders saturate. Năm là không dùng được BobcatParser — URL của model bị hỏng sau merger Quantinuum, đây là một vấn đề reproducibility crisis trong QNLP.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cuối tổng kết. Các điểm chính: một, quantum DisCoCat ngang ngửa BiLSTM với 28 lần ít tham số hơn. Hai, reader matters hơn depth hay ansatz family. Ba, barren plateau là vấn đề thật, sống sót qua scheduling và clipping. Bốn, two-stage sampling là essential cho QNLP. Hướng phát triển tiếp: tăng atomic type dim, thử CCG parser khác, test trên hardware NISQ thật, mở rộng sang multi-class và tiếng Việt. Em xin cảm ơn Quý Thầy Cô đã lắng nghe. Nhóm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463040"/>
            <a:ext cx="10698480" cy="822960"/>
          </a:xfrm>
          <a:prstGeom prst="rect">
            <a:avLst/>
          </a:prstGeom>
          <a:noFill/>
          <a:ln/>
        </p:spPr>
        <p:txBody>
          <a:bodyPr wrap="square" lIns="0" tIns="0" rIns="0" bIns="0" rtlCol="0" anchor="ctr"/>
          <a:lstStyle/>
          <a:p>
            <a:pPr indent="0" marL="0">
              <a:buNone/>
            </a:pPr>
            <a:r>
              <a:rPr sz="3200" b="1">
                <a:solidFill>
                  <a:srgbClr val="FFFFFF"/>
                </a:solidFill>
                <a:latin typeface="Calibri"/>
              </a:rPr>
              <a:t>Parameter-Efficient Quantum Sentiment Classification:</a:t>
            </a:r>
            <a:endParaRPr lang="en-US" sz="3200" dirty="0"/>
          </a:p>
          <a:p>
            <a:r>
              <a:rPr sz="3200" b="1">
                <a:solidFill>
                  <a:srgbClr val="FFFFFF"/>
                </a:solidFill>
                <a:latin typeface="Calibri"/>
              </a:rPr>
              <a:t>A Controlled Empirical Study of DisCoCat on SST-2</a:t>
            </a:r>
          </a:p>
        </p:txBody>
      </p:sp>
      <p:sp>
        <p:nvSpPr>
          <p:cNvPr id="4" name="Text 2"/>
          <p:cNvSpPr/>
          <p:nvPr/>
        </p:nvSpPr>
        <p:spPr>
          <a:xfrm>
            <a:off x="731520" y="3657600"/>
            <a:ext cx="1069848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Nhat-Linh Do¹  ·  Quang-Thai Le¹  ·  Minh-Tan Tran-Huynh²</a:t>
            </a:r>
            <a:endParaRPr lang="en-US" sz="1800" dirty="0"/>
          </a:p>
        </p:txBody>
      </p:sp>
      <p:sp>
        <p:nvSpPr>
          <p:cNvPr id="5" name="Text 3"/>
          <p:cNvSpPr/>
          <p:nvPr/>
        </p:nvSpPr>
        <p:spPr>
          <a:xfrm>
            <a:off x="731520" y="4206240"/>
            <a:ext cx="1069848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¹ Faculty of Business Data Science  ·  ² Faculty of Management Information Systems
Banking University of Ho Chi Minh City, Vietnam</a:t>
            </a:r>
            <a:endParaRPr lang="en-US" sz="1400" dirty="0"/>
          </a:p>
        </p:txBody>
      </p:sp>
      <p:sp>
        <p:nvSpPr>
          <p:cNvPr id="6" name="Text 4"/>
          <p:cNvSpPr/>
          <p:nvPr/>
        </p:nvSpPr>
        <p:spPr>
          <a:xfrm>
            <a:off x="731520" y="4572000"/>
            <a:ext cx="10698480" cy="365760"/>
          </a:xfrm>
          <a:prstGeom prst="rect">
            <a:avLst/>
          </a:prstGeom>
          <a:noFill/>
          <a:ln/>
        </p:spPr>
        <p:txBody>
          <a:bodyPr wrap="square" lIns="0" tIns="0" rIns="0" bIns="0" rtlCol="0" anchor="ctr"/>
          <a:lstStyle/>
          <a:p>
            <a:pPr indent="0" marL="0">
              <a:buNone/>
            </a:pPr>
            <a:r>
              <a:rPr lang="en-US" sz="1200" dirty="0">
                <a:solidFill>
                  <a:srgbClr val="CADCFC"/>
                </a:solidFill>
                <a:latin typeface="Consolas" pitchFamily="34" charset="0"/>
                <a:ea typeface="Consolas" pitchFamily="34" charset="-122"/>
                <a:cs typeface="Consolas" pitchFamily="34" charset="-120"/>
              </a:rPr>
              <a:t>linh.do@hub.edu.vn  ·  thailq@hub.edu.vn  ·  tanthm@hub.edu.vn</a:t>
            </a:r>
            <a:endParaRPr lang="en-US" sz="1200" dirty="0"/>
          </a:p>
        </p:txBody>
      </p:sp>
      <p:sp>
        <p:nvSpPr>
          <p:cNvPr id="7" name="Text 5"/>
          <p:cNvSpPr/>
          <p:nvPr/>
        </p:nvSpPr>
        <p:spPr>
          <a:xfrm>
            <a:off x="731520" y="6035040"/>
            <a:ext cx="1069848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Natural Language Processing Course — Final Project Defense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Why Quantum NLP?</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Compositional semantics meets parameterised quantum circuits</a:t>
            </a:r>
            <a:endParaRPr lang="en-US" sz="1400" dirty="0"/>
          </a:p>
        </p:txBody>
      </p:sp>
      <p:sp>
        <p:nvSpPr>
          <p:cNvPr id="4" name="Text 2"/>
          <p:cNvSpPr/>
          <p:nvPr/>
        </p:nvSpPr>
        <p:spPr>
          <a:xfrm>
            <a:off x="548640" y="1554480"/>
            <a:ext cx="6400800" cy="4572000"/>
          </a:xfrm>
          <a:prstGeom prst="rect">
            <a:avLst/>
          </a:prstGeom>
          <a:noFill/>
          <a:ln/>
        </p:spPr>
        <p:txBody>
          <a:bodyPr wrap="square" rtlCol="0" anchor="ctr"/>
          <a:lstStyle/>
          <a:p>
            <a:pPr marL="342900" indent="-342900">
              <a:spcAft>
                <a:spcPts val="600"/>
              </a:spcAft>
              <a:buSzPct val="100000"/>
              <a:buChar char="•"/>
            </a:pPr>
            <a:r>
              <a:rPr lang="en-US" sz="1500" b="1" dirty="0">
                <a:solidFill>
                  <a:srgbClr val="212121"/>
                </a:solidFill>
                <a:latin typeface="Calibri" pitchFamily="34" charset="0"/>
                <a:ea typeface="Calibri" pitchFamily="34" charset="-122"/>
                <a:cs typeface="Calibri" pitchFamily="34" charset="-120"/>
              </a:rPr>
              <a:t>Large language models work</a:t>
            </a:r>
            <a:endParaRPr lang="en-US" sz="1500" dirty="0"/>
          </a:p>
          <a:p>
            <a:pPr indent="0" marL="0">
              <a:spcAft>
                <a:spcPts val="600"/>
              </a:spcAft>
              <a:buNone/>
            </a:pPr>
            <a:r>
              <a:rPr lang="en-US" sz="1500" dirty="0">
                <a:solidFill>
                  <a:srgbClr val="212121"/>
                </a:solidFill>
                <a:latin typeface="Calibri" pitchFamily="34" charset="0"/>
                <a:ea typeface="Calibri" pitchFamily="34" charset="-122"/>
                <a:cs typeface="Calibri" pitchFamily="34" charset="-120"/>
              </a:rPr>
              <a:t>But they need hundreds of millions of parameters — far beyond what near-term quantum hardware can support.</a:t>
            </a:r>
            <a:endParaRPr lang="en-US" sz="1500" dirty="0"/>
          </a:p>
          <a:p>
            <a:pPr indent="0" marL="0">
              <a:spcAft>
                <a:spcPts val="600"/>
              </a:spcAft>
              <a:buNone/>
            </a:pPr>
            <a:r>
              <a:rPr lang="en-US" sz="1500" dirty="0">
                <a:solidFill>
                  <a:srgbClr val="212121"/>
                </a:solidFill>
                <a:latin typeface="Calibri" pitchFamily="34" charset="0"/>
                <a:ea typeface="Calibri" pitchFamily="34" charset="-122"/>
                <a:cs typeface="Calibri" pitchFamily="34" charset="-120"/>
              </a:rPr>
              <a:t> </a:t>
            </a:r>
            <a:endParaRPr lang="en-US" sz="1500" dirty="0"/>
          </a:p>
          <a:p>
            <a:pPr marL="342900" indent="-342900">
              <a:spcAft>
                <a:spcPts val="600"/>
              </a:spcAft>
              <a:buSzPct val="100000"/>
              <a:buChar char="•"/>
            </a:pPr>
            <a:r>
              <a:rPr lang="en-US" sz="1500" b="1" dirty="0">
                <a:solidFill>
                  <a:srgbClr val="212121"/>
                </a:solidFill>
                <a:latin typeface="Calibri" pitchFamily="34" charset="0"/>
                <a:ea typeface="Calibri" pitchFamily="34" charset="-122"/>
                <a:cs typeface="Calibri" pitchFamily="34" charset="-120"/>
              </a:rPr>
              <a:t>DisCoCat offers a different paradigm</a:t>
            </a:r>
            <a:endParaRPr lang="en-US" sz="1500" dirty="0"/>
          </a:p>
          <a:p>
            <a:pPr indent="0" marL="0">
              <a:spcAft>
                <a:spcPts val="600"/>
              </a:spcAft>
              <a:buNone/>
            </a:pPr>
            <a:r>
              <a:rPr lang="en-US" sz="1500" dirty="0">
                <a:solidFill>
                  <a:srgbClr val="212121"/>
                </a:solidFill>
                <a:latin typeface="Calibri" pitchFamily="34" charset="0"/>
                <a:ea typeface="Calibri" pitchFamily="34" charset="-122"/>
                <a:cs typeface="Calibri" pitchFamily="34" charset="-120"/>
              </a:rPr>
              <a:t>Sentence meaning is built by composing word tensors according to grammar — a structure that maps naturally to qubits and entanglement.</a:t>
            </a:r>
            <a:endParaRPr lang="en-US" sz="1500" dirty="0"/>
          </a:p>
          <a:p>
            <a:pPr indent="0" marL="0">
              <a:spcAft>
                <a:spcPts val="600"/>
              </a:spcAft>
              <a:buNone/>
            </a:pPr>
            <a:r>
              <a:rPr lang="en-US" sz="1500" dirty="0">
                <a:solidFill>
                  <a:srgbClr val="212121"/>
                </a:solidFill>
                <a:latin typeface="Calibri" pitchFamily="34" charset="0"/>
                <a:ea typeface="Calibri" pitchFamily="34" charset="-122"/>
                <a:cs typeface="Calibri" pitchFamily="34" charset="-120"/>
              </a:rPr>
              <a:t> </a:t>
            </a:r>
            <a:endParaRPr lang="en-US" sz="1500" dirty="0"/>
          </a:p>
          <a:p>
            <a:pPr marL="342900" indent="-342900">
              <a:spcAft>
                <a:spcPts val="600"/>
              </a:spcAft>
              <a:buSzPct val="100000"/>
              <a:buChar char="•"/>
            </a:pPr>
            <a:r>
              <a:rPr lang="en-US" sz="1500" b="1" dirty="0">
                <a:solidFill>
                  <a:srgbClr val="212121"/>
                </a:solidFill>
                <a:latin typeface="Calibri" pitchFamily="34" charset="0"/>
                <a:ea typeface="Calibri" pitchFamily="34" charset="-122"/>
                <a:cs typeface="Calibri" pitchFamily="34" charset="-120"/>
              </a:rPr>
              <a:t>QNLP is feasible today on small phrases</a:t>
            </a:r>
            <a:endParaRPr lang="en-US" sz="1500" dirty="0"/>
          </a:p>
          <a:p>
            <a:pPr indent="0" marL="0">
              <a:spcAft>
                <a:spcPts val="600"/>
              </a:spcAft>
              <a:buNone/>
            </a:pPr>
            <a:r>
              <a:rPr lang="en-US" sz="1500" dirty="0">
                <a:solidFill>
                  <a:srgbClr val="212121"/>
                </a:solidFill>
                <a:latin typeface="Calibri" pitchFamily="34" charset="0"/>
                <a:ea typeface="Calibri" pitchFamily="34" charset="-122"/>
                <a:cs typeface="Calibri" pitchFamily="34" charset="-120"/>
              </a:rPr>
              <a:t>Quantinuum has run live QNLP on real H1 hardware (Lorenz et al. 2023).</a:t>
            </a:r>
            <a:endParaRPr lang="en-US" sz="1500" dirty="0"/>
          </a:p>
        </p:txBody>
      </p:sp>
      <p:sp>
        <p:nvSpPr>
          <p:cNvPr id="5" name="Shape 3"/>
          <p:cNvSpPr/>
          <p:nvPr/>
        </p:nvSpPr>
        <p:spPr>
          <a:xfrm>
            <a:off x="7315200" y="1554480"/>
            <a:ext cx="4297680" cy="4572000"/>
          </a:xfrm>
          <a:prstGeom prst="rect">
            <a:avLst/>
          </a:prstGeom>
          <a:solidFill>
            <a:srgbClr val="F1F5F9"/>
          </a:solidFill>
          <a:ln w="12700">
            <a:solidFill>
              <a:srgbClr val="1C7293"/>
            </a:solidFill>
            <a:prstDash val="solid"/>
          </a:ln>
        </p:spPr>
      </p:sp>
      <p:sp>
        <p:nvSpPr>
          <p:cNvPr id="6" name="Text 4"/>
          <p:cNvSpPr/>
          <p:nvPr/>
        </p:nvSpPr>
        <p:spPr>
          <a:xfrm>
            <a:off x="7498080" y="1691640"/>
            <a:ext cx="393192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This work in one sentence</a:t>
            </a:r>
            <a:endParaRPr lang="en-US" sz="1300" dirty="0"/>
          </a:p>
        </p:txBody>
      </p:sp>
      <p:sp>
        <p:nvSpPr>
          <p:cNvPr id="7" name="Text 5"/>
          <p:cNvSpPr/>
          <p:nvPr/>
        </p:nvSpPr>
        <p:spPr>
          <a:xfrm>
            <a:off x="7498080" y="2286000"/>
            <a:ext cx="3931920" cy="1097280"/>
          </a:xfrm>
          <a:prstGeom prst="rect">
            <a:avLst/>
          </a:prstGeom>
          <a:noFill/>
          <a:ln/>
        </p:spPr>
        <p:txBody>
          <a:bodyPr wrap="square" lIns="0" tIns="0" rIns="0" bIns="0" rtlCol="0" anchor="ctr"/>
          <a:lstStyle/>
          <a:p>
            <a:pPr algn="ctr" indent="0" marL="0">
              <a:buNone/>
            </a:pPr>
            <a:r>
              <a:rPr lang="en-US" sz="7200" b="1" dirty="0">
                <a:solidFill>
                  <a:srgbClr val="1C7293"/>
                </a:solidFill>
                <a:latin typeface="Calibri" pitchFamily="34" charset="0"/>
                <a:ea typeface="Calibri" pitchFamily="34" charset="-122"/>
                <a:cs typeface="Calibri" pitchFamily="34" charset="-120"/>
              </a:rPr>
              <a:t>92.05%</a:t>
            </a:r>
            <a:endParaRPr lang="en-US" sz="7200" dirty="0"/>
          </a:p>
        </p:txBody>
      </p:sp>
      <p:sp>
        <p:nvSpPr>
          <p:cNvPr id="8" name="Text 6"/>
          <p:cNvSpPr/>
          <p:nvPr/>
        </p:nvSpPr>
        <p:spPr>
          <a:xfrm>
            <a:off x="7498080" y="3474720"/>
            <a:ext cx="3931920" cy="36576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quantum test accuracy</a:t>
            </a:r>
            <a:endParaRPr lang="en-US" sz="1400" dirty="0"/>
          </a:p>
        </p:txBody>
      </p:sp>
      <p:sp>
        <p:nvSpPr>
          <p:cNvPr id="9" name="Text 7"/>
          <p:cNvSpPr/>
          <p:nvPr/>
        </p:nvSpPr>
        <p:spPr>
          <a:xfrm>
            <a:off x="7498080" y="4023360"/>
            <a:ext cx="3931920" cy="1097280"/>
          </a:xfrm>
          <a:prstGeom prst="rect">
            <a:avLst/>
          </a:prstGeom>
          <a:noFill/>
          <a:ln/>
        </p:spPr>
        <p:txBody>
          <a:bodyPr wrap="square" lIns="0" tIns="0" rIns="0" bIns="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with only </a:t>
            </a:r>
            <a:pPr algn="ctr" indent="0" marL="0">
              <a:buNone/>
            </a:pPr>
            <a:r>
              <a:rPr lang="en-US" sz="1400" b="1" dirty="0">
                <a:solidFill>
                  <a:srgbClr val="F96167"/>
                </a:solidFill>
                <a:latin typeface="Calibri" pitchFamily="34" charset="0"/>
                <a:ea typeface="Calibri" pitchFamily="34" charset="-122"/>
                <a:cs typeface="Calibri" pitchFamily="34" charset="-120"/>
              </a:rPr>
              <a:t>2,940</a:t>
            </a:r>
            <a:pPr algn="ctr" indent="0" marL="0">
              <a:buNone/>
            </a:pPr>
            <a:r>
              <a:rPr lang="en-US" sz="1400" dirty="0">
                <a:solidFill>
                  <a:srgbClr val="212121"/>
                </a:solidFill>
                <a:latin typeface="Calibri" pitchFamily="34" charset="0"/>
                <a:ea typeface="Calibri" pitchFamily="34" charset="-122"/>
                <a:cs typeface="Calibri" pitchFamily="34" charset="-120"/>
              </a:rPr>
              <a:t> trainable parameters —</a:t>
            </a:r>
            <a:endParaRPr lang="en-US" sz="1400" dirty="0"/>
          </a:p>
          <a:p>
            <a:pPr algn="ctr" indent="0" marL="0">
              <a:buNone/>
            </a:pPr>
            <a:r>
              <a:rPr lang="en-US" sz="1400" b="1" dirty="0">
                <a:solidFill>
                  <a:srgbClr val="212121"/>
                </a:solidFill>
                <a:latin typeface="Calibri" pitchFamily="34" charset="0"/>
                <a:ea typeface="Calibri" pitchFamily="34" charset="-122"/>
                <a:cs typeface="Calibri" pitchFamily="34" charset="-120"/>
              </a:rPr>
              <a:t>28× fewer than a comparable BiLSTM</a:t>
            </a:r>
            <a:endParaRPr lang="en-US" sz="1400" dirty="0"/>
          </a:p>
        </p:txBody>
      </p:sp>
      <p:sp>
        <p:nvSpPr>
          <p:cNvPr id="10"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1" name="Text 9"/>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Background: DisCoCat in One Slide</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Coecke–Sadrzadeh–Clark 2010, formalised in lambeq (Quantinuum)</a:t>
            </a:r>
            <a:endParaRPr lang="en-US" sz="1400" dirty="0"/>
          </a:p>
        </p:txBody>
      </p:sp>
      <p:sp>
        <p:nvSpPr>
          <p:cNvPr id="4" name="Shape 2"/>
          <p:cNvSpPr/>
          <p:nvPr/>
        </p:nvSpPr>
        <p:spPr>
          <a:xfrm>
            <a:off x="457200" y="1463040"/>
            <a:ext cx="640080" cy="640080"/>
          </a:xfrm>
          <a:prstGeom prst="ellipse">
            <a:avLst/>
          </a:prstGeom>
          <a:solidFill>
            <a:srgbClr val="1C7293"/>
          </a:solidFill>
          <a:ln/>
        </p:spPr>
      </p:sp>
      <p:sp>
        <p:nvSpPr>
          <p:cNvPr id="5" name="Text 3"/>
          <p:cNvSpPr/>
          <p:nvPr/>
        </p:nvSpPr>
        <p:spPr>
          <a:xfrm>
            <a:off x="45720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6" name="Text 4"/>
          <p:cNvSpPr/>
          <p:nvPr/>
        </p:nvSpPr>
        <p:spPr>
          <a:xfrm>
            <a:off x="1280160" y="1508760"/>
            <a:ext cx="2743200" cy="548640"/>
          </a:xfrm>
          <a:prstGeom prst="rect">
            <a:avLst/>
          </a:prstGeom>
          <a:noFill/>
          <a:ln/>
        </p:spPr>
        <p:txBody>
          <a:bodyPr wrap="square" lIns="0" tIns="0" rIns="0" bIns="0" rtlCol="0" anchor="ctr"/>
          <a:lstStyle/>
          <a:p>
            <a:pPr indent="0" marL="0">
              <a:buNone/>
            </a:pPr>
            <a:r>
              <a:rPr lang="en-US" sz="1700" b="1" dirty="0">
                <a:solidFill>
                  <a:srgbClr val="1C7293"/>
                </a:solidFill>
                <a:latin typeface="Calibri" pitchFamily="34" charset="0"/>
                <a:ea typeface="Calibri" pitchFamily="34" charset="-122"/>
                <a:cs typeface="Calibri" pitchFamily="34" charset="-120"/>
              </a:rPr>
              <a:t>Tokenise</a:t>
            </a:r>
            <a:endParaRPr lang="en-US" sz="1700" dirty="0"/>
          </a:p>
        </p:txBody>
      </p:sp>
      <p:sp>
        <p:nvSpPr>
          <p:cNvPr id="7" name="Text 5"/>
          <p:cNvSpPr/>
          <p:nvPr/>
        </p:nvSpPr>
        <p:spPr>
          <a:xfrm>
            <a:off x="457200" y="2377440"/>
            <a:ext cx="3383280" cy="1828800"/>
          </a:xfrm>
          <a:prstGeom prst="rect">
            <a:avLst/>
          </a:prstGeom>
          <a:noFill/>
          <a:ln/>
        </p:spPr>
        <p:txBody>
          <a:bodyPr wrap="square" lIns="0" tIns="0" rIns="0" bIns="0" rtlCol="0" anchor="t"/>
          <a:lstStyle/>
          <a:p>
            <a:pPr indent="0" marL="0">
              <a:buNone/>
            </a:pPr>
            <a:r>
              <a:rPr lang="en-US" sz="1300" dirty="0">
                <a:solidFill>
                  <a:srgbClr val="212121"/>
                </a:solidFill>
                <a:latin typeface="Calibri" pitchFamily="34" charset="0"/>
                <a:ea typeface="Calibri" pitchFamily="34" charset="-122"/>
                <a:cs typeface="Calibri" pitchFamily="34" charset="-120"/>
              </a:rPr>
              <a:t>Whitespace tokens.</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Example:</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[not, one, clever, line]</a:t>
            </a:r>
            <a:endParaRPr lang="en-US" sz="1300" dirty="0"/>
          </a:p>
        </p:txBody>
      </p:sp>
      <p:sp>
        <p:nvSpPr>
          <p:cNvPr id="8" name="Shape 6"/>
          <p:cNvSpPr/>
          <p:nvPr/>
        </p:nvSpPr>
        <p:spPr>
          <a:xfrm>
            <a:off x="4480560" y="1463040"/>
            <a:ext cx="640080" cy="640080"/>
          </a:xfrm>
          <a:prstGeom prst="ellipse">
            <a:avLst/>
          </a:prstGeom>
          <a:solidFill>
            <a:srgbClr val="065A82"/>
          </a:solidFill>
          <a:ln/>
        </p:spPr>
      </p:sp>
      <p:sp>
        <p:nvSpPr>
          <p:cNvPr id="9" name="Text 7"/>
          <p:cNvSpPr/>
          <p:nvPr/>
        </p:nvSpPr>
        <p:spPr>
          <a:xfrm>
            <a:off x="448056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0" name="Text 8"/>
          <p:cNvSpPr/>
          <p:nvPr/>
        </p:nvSpPr>
        <p:spPr>
          <a:xfrm>
            <a:off x="5303520" y="1508760"/>
            <a:ext cx="2743200" cy="548640"/>
          </a:xfrm>
          <a:prstGeom prst="rect">
            <a:avLst/>
          </a:prstGeom>
          <a:noFill/>
          <a:ln/>
        </p:spPr>
        <p:txBody>
          <a:bodyPr wrap="square" lIns="0" tIns="0" rIns="0" bIns="0"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String diagram</a:t>
            </a:r>
            <a:endParaRPr lang="en-US" sz="1700" dirty="0"/>
          </a:p>
        </p:txBody>
      </p:sp>
      <p:sp>
        <p:nvSpPr>
          <p:cNvPr id="11" name="Text 9"/>
          <p:cNvSpPr/>
          <p:nvPr/>
        </p:nvSpPr>
        <p:spPr>
          <a:xfrm>
            <a:off x="4480560" y="2377440"/>
            <a:ext cx="3383280" cy="1828800"/>
          </a:xfrm>
          <a:prstGeom prst="rect">
            <a:avLst/>
          </a:prstGeom>
          <a:noFill/>
          <a:ln/>
        </p:spPr>
        <p:txBody>
          <a:bodyPr wrap="square" lIns="0" tIns="0" rIns="0" bIns="0" rtlCol="0" anchor="t"/>
          <a:lstStyle/>
          <a:p>
            <a:pPr indent="0" marL="0">
              <a:buNone/>
            </a:pPr>
            <a:r>
              <a:rPr lang="en-US" sz="1300" dirty="0">
                <a:solidFill>
                  <a:srgbClr val="212121"/>
                </a:solidFill>
                <a:latin typeface="Calibri" pitchFamily="34" charset="0"/>
                <a:ea typeface="Calibri" pitchFamily="34" charset="-122"/>
                <a:cs typeface="Calibri" pitchFamily="34" charset="-120"/>
              </a:rPr>
              <a:t>Words become boxes;</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grammar becomes wires.</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The sentence reduces</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to a single output</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wire of type s.</a:t>
            </a:r>
            <a:endParaRPr lang="en-US" sz="1300" dirty="0"/>
          </a:p>
        </p:txBody>
      </p:sp>
      <p:sp>
        <p:nvSpPr>
          <p:cNvPr id="12" name="Shape 10"/>
          <p:cNvSpPr/>
          <p:nvPr/>
        </p:nvSpPr>
        <p:spPr>
          <a:xfrm>
            <a:off x="8503920" y="1463040"/>
            <a:ext cx="640080" cy="640080"/>
          </a:xfrm>
          <a:prstGeom prst="ellipse">
            <a:avLst/>
          </a:prstGeom>
          <a:solidFill>
            <a:srgbClr val="1E2761"/>
          </a:solidFill>
          <a:ln/>
        </p:spPr>
      </p:sp>
      <p:sp>
        <p:nvSpPr>
          <p:cNvPr id="13" name="Text 11"/>
          <p:cNvSpPr/>
          <p:nvPr/>
        </p:nvSpPr>
        <p:spPr>
          <a:xfrm>
            <a:off x="8503920" y="1463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4" name="Text 12"/>
          <p:cNvSpPr/>
          <p:nvPr/>
        </p:nvSpPr>
        <p:spPr>
          <a:xfrm>
            <a:off x="9326880" y="1508760"/>
            <a:ext cx="2743200" cy="54864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Quantum circuit</a:t>
            </a:r>
            <a:endParaRPr lang="en-US" sz="1700" dirty="0"/>
          </a:p>
        </p:txBody>
      </p:sp>
      <p:sp>
        <p:nvSpPr>
          <p:cNvPr id="15" name="Text 13"/>
          <p:cNvSpPr/>
          <p:nvPr/>
        </p:nvSpPr>
        <p:spPr>
          <a:xfrm>
            <a:off x="8503920" y="2377440"/>
            <a:ext cx="3383280" cy="1828800"/>
          </a:xfrm>
          <a:prstGeom prst="rect">
            <a:avLst/>
          </a:prstGeom>
          <a:noFill/>
          <a:ln/>
        </p:spPr>
        <p:txBody>
          <a:bodyPr wrap="square" lIns="0" tIns="0" rIns="0" bIns="0" rtlCol="0" anchor="t"/>
          <a:lstStyle/>
          <a:p>
            <a:pPr indent="0" marL="0">
              <a:buNone/>
            </a:pPr>
            <a:r>
              <a:rPr lang="en-US" sz="1300" dirty="0">
                <a:solidFill>
                  <a:srgbClr val="212121"/>
                </a:solidFill>
                <a:latin typeface="Calibri" pitchFamily="34" charset="0"/>
                <a:ea typeface="Calibri" pitchFamily="34" charset="-122"/>
                <a:cs typeface="Calibri" pitchFamily="34" charset="-120"/>
              </a:rPr>
              <a:t>Apply an ansatz functor.</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Each box becomes a</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parameterised quantum</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gate; wires become</a:t>
            </a:r>
            <a:endParaRPr lang="en-US" sz="1300" dirty="0"/>
          </a:p>
          <a:p>
            <a:pPr indent="0" marL="0">
              <a:buNone/>
            </a:pPr>
            <a:r>
              <a:rPr lang="en-US" sz="1300" dirty="0">
                <a:solidFill>
                  <a:srgbClr val="212121"/>
                </a:solidFill>
                <a:latin typeface="Calibri" pitchFamily="34" charset="0"/>
                <a:ea typeface="Calibri" pitchFamily="34" charset="-122"/>
                <a:cs typeface="Calibri" pitchFamily="34" charset="-120"/>
              </a:rPr>
              <a:t>qubits.</a:t>
            </a:r>
            <a:endParaRPr lang="en-US" sz="1300" dirty="0"/>
          </a:p>
        </p:txBody>
      </p:sp>
      <p:sp>
        <p:nvSpPr>
          <p:cNvPr id="16" name="Shape 14"/>
          <p:cNvSpPr/>
          <p:nvPr/>
        </p:nvSpPr>
        <p:spPr>
          <a:xfrm>
            <a:off x="457200" y="4572000"/>
            <a:ext cx="11247120" cy="1371600"/>
          </a:xfrm>
          <a:prstGeom prst="rect">
            <a:avLst/>
          </a:prstGeom>
          <a:solidFill>
            <a:srgbClr val="F1F5F9"/>
          </a:solidFill>
          <a:ln w="12700">
            <a:solidFill>
              <a:srgbClr val="1C7293"/>
            </a:solidFill>
            <a:prstDash val="solid"/>
          </a:ln>
        </p:spPr>
      </p:sp>
      <p:sp>
        <p:nvSpPr>
          <p:cNvPr id="17" name="Text 15"/>
          <p:cNvSpPr/>
          <p:nvPr/>
        </p:nvSpPr>
        <p:spPr>
          <a:xfrm>
            <a:off x="640080" y="466344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Key insight</a:t>
            </a:r>
            <a:endParaRPr lang="en-US" sz="1200" dirty="0"/>
          </a:p>
        </p:txBody>
      </p:sp>
      <p:sp>
        <p:nvSpPr>
          <p:cNvPr id="18" name="Text 16"/>
          <p:cNvSpPr/>
          <p:nvPr/>
        </p:nvSpPr>
        <p:spPr>
          <a:xfrm>
            <a:off x="640080" y="5029200"/>
            <a:ext cx="10881360" cy="822960"/>
          </a:xfrm>
          <a:prstGeom prst="rect">
            <a:avLst/>
          </a:prstGeom>
          <a:noFill/>
          <a:ln/>
        </p:spPr>
        <p:txBody>
          <a:bodyPr wrap="square" lIns="0" tIns="0" rIns="0" bIns="0" rtlCol="0" anchor="ctr"/>
          <a:lstStyle/>
          <a:p>
            <a:pPr indent="0" marL="0">
              <a:buNone/>
            </a:pPr>
            <a:r>
              <a:rPr lang="en-US" sz="1400" i="1" dirty="0">
                <a:solidFill>
                  <a:srgbClr val="212121"/>
                </a:solidFill>
                <a:latin typeface="Calibri" pitchFamily="34" charset="0"/>
                <a:ea typeface="Calibri" pitchFamily="34" charset="-122"/>
                <a:cs typeface="Calibri" pitchFamily="34" charset="-120"/>
              </a:rPr>
              <a:t>The grammatical structure of a sentence is its quantum circuit topology. Word vectors become quantum states, and composition is realised by entangling gates. Sentence meaning lives in the output qubit.</a:t>
            </a:r>
            <a:endParaRPr lang="en-US" sz="1400" dirty="0"/>
          </a:p>
        </p:txBody>
      </p:sp>
      <p:sp>
        <p:nvSpPr>
          <p:cNvPr id="19" name="Text 1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20" name="Text 18"/>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Problem &amp; Scope</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Binary sentiment on SST-2 short phrases</a:t>
            </a:r>
            <a:endParaRPr lang="en-US" sz="1400" dirty="0"/>
          </a:p>
        </p:txBody>
      </p:sp>
      <p:sp>
        <p:nvSpPr>
          <p:cNvPr id="4" name="Text 2"/>
          <p:cNvSpPr/>
          <p:nvPr/>
        </p:nvSpPr>
        <p:spPr>
          <a:xfrm>
            <a:off x="548640" y="1554480"/>
            <a:ext cx="5486400" cy="45720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Task</a:t>
            </a:r>
            <a:endParaRPr lang="en-US" sz="1800" dirty="0"/>
          </a:p>
        </p:txBody>
      </p:sp>
      <p:sp>
        <p:nvSpPr>
          <p:cNvPr id="5" name="Text 3"/>
          <p:cNvSpPr/>
          <p:nvPr/>
        </p:nvSpPr>
        <p:spPr>
          <a:xfrm>
            <a:off x="548640" y="2011680"/>
            <a:ext cx="5486400" cy="2377440"/>
          </a:xfrm>
          <a:prstGeom prst="rect">
            <a:avLst/>
          </a:prstGeom>
          <a:noFill/>
          <a:ln/>
        </p:spPr>
        <p:txBody>
          <a:bodyPr wrap="square" rtlCol="0" anchor="ctr"/>
          <a:lstStyle/>
          <a:p>
            <a:pPr indent="0" marL="0">
              <a:spcAft>
                <a:spcPts val="400"/>
              </a:spcAft>
              <a:buNone/>
            </a:pPr>
            <a:r>
              <a:rPr lang="en-US" sz="1500" b="1" dirty="0">
                <a:solidFill>
                  <a:srgbClr val="212121"/>
                </a:solidFill>
                <a:latin typeface="Calibri" pitchFamily="34" charset="0"/>
                <a:ea typeface="Calibri" pitchFamily="34" charset="-122"/>
                <a:cs typeface="Calibri" pitchFamily="34" charset="-120"/>
              </a:rPr>
              <a:t>Input: </a:t>
            </a:r>
            <a:pPr indent="0" marL="0">
              <a:spcAft>
                <a:spcPts val="400"/>
              </a:spcAft>
              <a:buNone/>
            </a:pPr>
            <a:r>
              <a:rPr lang="en-US" sz="1500" dirty="0">
                <a:solidFill>
                  <a:srgbClr val="212121"/>
                </a:solidFill>
                <a:latin typeface="Calibri" pitchFamily="34" charset="0"/>
                <a:ea typeface="Calibri" pitchFamily="34" charset="-122"/>
                <a:cs typeface="Calibri" pitchFamily="34" charset="-120"/>
              </a:rPr>
              <a:t>a phrase of 2–5 tokens</a:t>
            </a:r>
            <a:endParaRPr lang="en-US" sz="1500" dirty="0"/>
          </a:p>
          <a:p>
            <a:pPr indent="0" marL="0">
              <a:spcAft>
                <a:spcPts val="400"/>
              </a:spcAft>
              <a:buNone/>
            </a:pPr>
            <a:r>
              <a:rPr lang="en-US" sz="1500" b="1" dirty="0">
                <a:solidFill>
                  <a:srgbClr val="212121"/>
                </a:solidFill>
                <a:latin typeface="Calibri" pitchFamily="34" charset="0"/>
                <a:ea typeface="Calibri" pitchFamily="34" charset="-122"/>
                <a:cs typeface="Calibri" pitchFamily="34" charset="-120"/>
              </a:rPr>
              <a:t>Output: </a:t>
            </a:r>
            <a:pPr indent="0" marL="0">
              <a:spcAft>
                <a:spcPts val="400"/>
              </a:spcAft>
              <a:buNone/>
            </a:pPr>
            <a:r>
              <a:rPr lang="en-US" sz="1500" dirty="0">
                <a:solidFill>
                  <a:srgbClr val="212121"/>
                </a:solidFill>
                <a:latin typeface="Calibri" pitchFamily="34" charset="0"/>
                <a:ea typeface="Calibri" pitchFamily="34" charset="-122"/>
                <a:cs typeface="Calibri" pitchFamily="34" charset="-120"/>
              </a:rPr>
              <a:t>POS or NEG</a:t>
            </a:r>
            <a:endParaRPr lang="en-US" sz="1500" dirty="0"/>
          </a:p>
          <a:p>
            <a:pPr indent="0" marL="0">
              <a:spcAft>
                <a:spcPts val="400"/>
              </a:spcAft>
              <a:buNone/>
            </a:pPr>
            <a:r>
              <a:rPr lang="en-US" sz="1500" b="1" dirty="0">
                <a:solidFill>
                  <a:srgbClr val="212121"/>
                </a:solidFill>
                <a:latin typeface="Calibri" pitchFamily="34" charset="0"/>
                <a:ea typeface="Calibri" pitchFamily="34" charset="-122"/>
                <a:cs typeface="Calibri" pitchFamily="34" charset="-120"/>
              </a:rPr>
              <a:t>Dataset: </a:t>
            </a:r>
            <a:pPr indent="0" marL="0">
              <a:spcAft>
                <a:spcPts val="400"/>
              </a:spcAft>
              <a:buNone/>
            </a:pPr>
            <a:r>
              <a:rPr lang="en-US" sz="1500" dirty="0">
                <a:solidFill>
                  <a:srgbClr val="212121"/>
                </a:solidFill>
                <a:latin typeface="Calibri" pitchFamily="34" charset="0"/>
                <a:ea typeface="Calibri" pitchFamily="34" charset="-122"/>
                <a:cs typeface="Calibri" pitchFamily="34" charset="-120"/>
              </a:rPr>
              <a:t>Stanford Sentiment Treebank (SST-2)</a:t>
            </a:r>
            <a:endParaRPr lang="en-US" sz="1500" dirty="0"/>
          </a:p>
          <a:p>
            <a:pPr indent="0" marL="0">
              <a:spcAft>
                <a:spcPts val="400"/>
              </a:spcAft>
              <a:buNone/>
            </a:pPr>
            <a:r>
              <a:rPr lang="en-US" sz="1500" b="1" dirty="0">
                <a:solidFill>
                  <a:srgbClr val="212121"/>
                </a:solidFill>
                <a:latin typeface="Calibri" pitchFamily="34" charset="0"/>
                <a:ea typeface="Calibri" pitchFamily="34" charset="-122"/>
                <a:cs typeface="Calibri" pitchFamily="34" charset="-120"/>
              </a:rPr>
              <a:t>Split: </a:t>
            </a:r>
            <a:pPr indent="0" marL="0">
              <a:spcAft>
                <a:spcPts val="400"/>
              </a:spcAft>
              <a:buNone/>
            </a:pPr>
            <a:r>
              <a:rPr lang="en-US" sz="1500" dirty="0">
                <a:solidFill>
                  <a:srgbClr val="212121"/>
                </a:solidFill>
                <a:latin typeface="Calibri" pitchFamily="34" charset="0"/>
                <a:ea typeface="Calibri" pitchFamily="34" charset="-122"/>
                <a:cs typeface="Calibri" pitchFamily="34" charset="-120"/>
              </a:rPr>
              <a:t>5,000 / 400 / 400 balanced (50:50)</a:t>
            </a:r>
            <a:endParaRPr lang="en-US" sz="1500" dirty="0"/>
          </a:p>
        </p:txBody>
      </p:sp>
      <p:sp>
        <p:nvSpPr>
          <p:cNvPr id="6" name="Text 4"/>
          <p:cNvSpPr/>
          <p:nvPr/>
        </p:nvSpPr>
        <p:spPr>
          <a:xfrm>
            <a:off x="6400800" y="1554480"/>
            <a:ext cx="5212080" cy="45720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Concrete examples</a:t>
            </a:r>
            <a:endParaRPr lang="en-US" sz="1800" dirty="0"/>
          </a:p>
        </p:txBody>
      </p:sp>
      <p:sp>
        <p:nvSpPr>
          <p:cNvPr id="7" name="Shape 5"/>
          <p:cNvSpPr/>
          <p:nvPr/>
        </p:nvSpPr>
        <p:spPr>
          <a:xfrm>
            <a:off x="10698480" y="2103120"/>
            <a:ext cx="822960" cy="365760"/>
          </a:xfrm>
          <a:prstGeom prst="rect">
            <a:avLst/>
          </a:prstGeom>
          <a:solidFill>
            <a:srgbClr val="5CB85C"/>
          </a:solidFill>
          <a:ln/>
        </p:spPr>
      </p:sp>
      <p:sp>
        <p:nvSpPr>
          <p:cNvPr id="8" name="Text 6"/>
          <p:cNvSpPr/>
          <p:nvPr/>
        </p:nvSpPr>
        <p:spPr>
          <a:xfrm>
            <a:off x="10698480" y="2103120"/>
            <a:ext cx="822960" cy="365760"/>
          </a:xfrm>
          <a:prstGeom prst="rect">
            <a:avLst/>
          </a:prstGeom>
          <a:noFill/>
          <a:ln/>
        </p:spPr>
        <p:txBody>
          <a:bodyPr wrap="square" lIns="0" tIns="0" rIns="0" bIns="0" rtlCol="0" anchor="ctr"/>
          <a:lstStyle/>
          <a:p>
            <a:pPr algn="ctr" indent="0" marL="0">
              <a:buNone/>
            </a:pPr>
            <a:r>
              <a:rPr lang="en-US" sz="1100" b="1" dirty="0">
                <a:solidFill>
                  <a:srgbClr val="FFFFFF"/>
                </a:solidFill>
              </a:rPr>
              <a:t>POS</a:t>
            </a:r>
            <a:endParaRPr lang="en-US" sz="1100" dirty="0"/>
          </a:p>
        </p:txBody>
      </p:sp>
      <p:sp>
        <p:nvSpPr>
          <p:cNvPr id="9" name="Text 7"/>
          <p:cNvSpPr/>
          <p:nvPr/>
        </p:nvSpPr>
        <p:spPr>
          <a:xfrm>
            <a:off x="6400800" y="2103120"/>
            <a:ext cx="4206240" cy="3657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"good movie"</a:t>
            </a:r>
            <a:endParaRPr lang="en-US" sz="1400" dirty="0"/>
          </a:p>
        </p:txBody>
      </p:sp>
      <p:sp>
        <p:nvSpPr>
          <p:cNvPr id="10" name="Shape 8"/>
          <p:cNvSpPr/>
          <p:nvPr/>
        </p:nvSpPr>
        <p:spPr>
          <a:xfrm>
            <a:off x="10698480" y="2560320"/>
            <a:ext cx="822960" cy="365760"/>
          </a:xfrm>
          <a:prstGeom prst="rect">
            <a:avLst/>
          </a:prstGeom>
          <a:solidFill>
            <a:srgbClr val="5CB85C"/>
          </a:solidFill>
          <a:ln/>
        </p:spPr>
      </p:sp>
      <p:sp>
        <p:nvSpPr>
          <p:cNvPr id="11" name="Text 9"/>
          <p:cNvSpPr/>
          <p:nvPr/>
        </p:nvSpPr>
        <p:spPr>
          <a:xfrm>
            <a:off x="10698480" y="2560320"/>
            <a:ext cx="822960" cy="365760"/>
          </a:xfrm>
          <a:prstGeom prst="rect">
            <a:avLst/>
          </a:prstGeom>
          <a:noFill/>
          <a:ln/>
        </p:spPr>
        <p:txBody>
          <a:bodyPr wrap="square" lIns="0" tIns="0" rIns="0" bIns="0" rtlCol="0" anchor="ctr"/>
          <a:lstStyle/>
          <a:p>
            <a:pPr algn="ctr" indent="0" marL="0">
              <a:buNone/>
            </a:pPr>
            <a:r>
              <a:rPr lang="en-US" sz="1100" b="1" dirty="0">
                <a:solidFill>
                  <a:srgbClr val="FFFFFF"/>
                </a:solidFill>
              </a:rPr>
              <a:t>POS</a:t>
            </a:r>
            <a:endParaRPr lang="en-US" sz="1100" dirty="0"/>
          </a:p>
        </p:txBody>
      </p:sp>
      <p:sp>
        <p:nvSpPr>
          <p:cNvPr id="12" name="Text 10"/>
          <p:cNvSpPr/>
          <p:nvPr/>
        </p:nvSpPr>
        <p:spPr>
          <a:xfrm>
            <a:off x="6400800" y="2560320"/>
            <a:ext cx="4206240" cy="3657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"an extraordinary film"</a:t>
            </a:r>
            <a:endParaRPr lang="en-US" sz="1400" dirty="0"/>
          </a:p>
        </p:txBody>
      </p:sp>
      <p:sp>
        <p:nvSpPr>
          <p:cNvPr id="13" name="Shape 11"/>
          <p:cNvSpPr/>
          <p:nvPr/>
        </p:nvSpPr>
        <p:spPr>
          <a:xfrm>
            <a:off x="10698480" y="3017520"/>
            <a:ext cx="822960" cy="365760"/>
          </a:xfrm>
          <a:prstGeom prst="rect">
            <a:avLst/>
          </a:prstGeom>
          <a:solidFill>
            <a:srgbClr val="F96167"/>
          </a:solidFill>
          <a:ln/>
        </p:spPr>
      </p:sp>
      <p:sp>
        <p:nvSpPr>
          <p:cNvPr id="14" name="Text 12"/>
          <p:cNvSpPr/>
          <p:nvPr/>
        </p:nvSpPr>
        <p:spPr>
          <a:xfrm>
            <a:off x="10698480" y="3017520"/>
            <a:ext cx="822960" cy="365760"/>
          </a:xfrm>
          <a:prstGeom prst="rect">
            <a:avLst/>
          </a:prstGeom>
          <a:noFill/>
          <a:ln/>
        </p:spPr>
        <p:txBody>
          <a:bodyPr wrap="square" lIns="0" tIns="0" rIns="0" bIns="0" rtlCol="0" anchor="ctr"/>
          <a:lstStyle/>
          <a:p>
            <a:pPr algn="ctr" indent="0" marL="0">
              <a:buNone/>
            </a:pPr>
            <a:r>
              <a:rPr lang="en-US" sz="1100" b="1" dirty="0">
                <a:solidFill>
                  <a:srgbClr val="FFFFFF"/>
                </a:solidFill>
              </a:rPr>
              <a:t>NEG</a:t>
            </a:r>
            <a:endParaRPr lang="en-US" sz="1100" dirty="0"/>
          </a:p>
        </p:txBody>
      </p:sp>
      <p:sp>
        <p:nvSpPr>
          <p:cNvPr id="15" name="Text 13"/>
          <p:cNvSpPr/>
          <p:nvPr/>
        </p:nvSpPr>
        <p:spPr>
          <a:xfrm>
            <a:off x="6400800" y="3017520"/>
            <a:ext cx="4206240" cy="3657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"a banal script"</a:t>
            </a:r>
            <a:endParaRPr lang="en-US" sz="1400" dirty="0"/>
          </a:p>
        </p:txBody>
      </p:sp>
      <p:sp>
        <p:nvSpPr>
          <p:cNvPr id="16" name="Shape 14"/>
          <p:cNvSpPr/>
          <p:nvPr/>
        </p:nvSpPr>
        <p:spPr>
          <a:xfrm>
            <a:off x="10698480" y="3474720"/>
            <a:ext cx="822960" cy="365760"/>
          </a:xfrm>
          <a:prstGeom prst="rect">
            <a:avLst/>
          </a:prstGeom>
          <a:solidFill>
            <a:srgbClr val="F96167"/>
          </a:solidFill>
          <a:ln/>
        </p:spPr>
      </p:sp>
      <p:sp>
        <p:nvSpPr>
          <p:cNvPr id="17" name="Text 15"/>
          <p:cNvSpPr/>
          <p:nvPr/>
        </p:nvSpPr>
        <p:spPr>
          <a:xfrm>
            <a:off x="10698480" y="3474720"/>
            <a:ext cx="822960" cy="365760"/>
          </a:xfrm>
          <a:prstGeom prst="rect">
            <a:avLst/>
          </a:prstGeom>
          <a:noFill/>
          <a:ln/>
        </p:spPr>
        <p:txBody>
          <a:bodyPr wrap="square" lIns="0" tIns="0" rIns="0" bIns="0" rtlCol="0" anchor="ctr"/>
          <a:lstStyle/>
          <a:p>
            <a:pPr algn="ctr" indent="0" marL="0">
              <a:buNone/>
            </a:pPr>
            <a:r>
              <a:rPr lang="en-US" sz="1100" b="1" dirty="0">
                <a:solidFill>
                  <a:srgbClr val="FFFFFF"/>
                </a:solidFill>
              </a:rPr>
              <a:t>NEG</a:t>
            </a:r>
            <a:endParaRPr lang="en-US" sz="1100" dirty="0"/>
          </a:p>
        </p:txBody>
      </p:sp>
      <p:sp>
        <p:nvSpPr>
          <p:cNvPr id="18" name="Text 16"/>
          <p:cNvSpPr/>
          <p:nvPr/>
        </p:nvSpPr>
        <p:spPr>
          <a:xfrm>
            <a:off x="6400800" y="3474720"/>
            <a:ext cx="4206240" cy="3657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"not one clever line"</a:t>
            </a:r>
            <a:endParaRPr lang="en-US" sz="1400" dirty="0"/>
          </a:p>
        </p:txBody>
      </p:sp>
      <p:sp>
        <p:nvSpPr>
          <p:cNvPr id="19" name="Shape 17"/>
          <p:cNvSpPr/>
          <p:nvPr/>
        </p:nvSpPr>
        <p:spPr>
          <a:xfrm>
            <a:off x="10698480" y="3931920"/>
            <a:ext cx="822960" cy="365760"/>
          </a:xfrm>
          <a:prstGeom prst="rect">
            <a:avLst/>
          </a:prstGeom>
          <a:solidFill>
            <a:srgbClr val="F96167"/>
          </a:solidFill>
          <a:ln/>
        </p:spPr>
      </p:sp>
      <p:sp>
        <p:nvSpPr>
          <p:cNvPr id="20" name="Text 18"/>
          <p:cNvSpPr/>
          <p:nvPr/>
        </p:nvSpPr>
        <p:spPr>
          <a:xfrm>
            <a:off x="10698480" y="3931920"/>
            <a:ext cx="822960" cy="365760"/>
          </a:xfrm>
          <a:prstGeom prst="rect">
            <a:avLst/>
          </a:prstGeom>
          <a:noFill/>
          <a:ln/>
        </p:spPr>
        <p:txBody>
          <a:bodyPr wrap="square" lIns="0" tIns="0" rIns="0" bIns="0" rtlCol="0" anchor="ctr"/>
          <a:lstStyle/>
          <a:p>
            <a:pPr algn="ctr" indent="0" marL="0">
              <a:buNone/>
            </a:pPr>
            <a:r>
              <a:rPr lang="en-US" sz="1100" b="1" dirty="0">
                <a:solidFill>
                  <a:srgbClr val="FFFFFF"/>
                </a:solidFill>
              </a:rPr>
              <a:t>NEG</a:t>
            </a:r>
            <a:endParaRPr lang="en-US" sz="1100" dirty="0"/>
          </a:p>
        </p:txBody>
      </p:sp>
      <p:sp>
        <p:nvSpPr>
          <p:cNvPr id="21" name="Text 19"/>
          <p:cNvSpPr/>
          <p:nvPr/>
        </p:nvSpPr>
        <p:spPr>
          <a:xfrm>
            <a:off x="6400800" y="3931920"/>
            <a:ext cx="4206240" cy="365760"/>
          </a:xfrm>
          <a:prstGeom prst="rect">
            <a:avLst/>
          </a:prstGeom>
          <a:noFill/>
          <a:ln/>
        </p:spPr>
        <p:txBody>
          <a:bodyPr wrap="square" lIns="0" tIns="0" rIns="0" bIns="0" rtlCol="0" anchor="ctr"/>
          <a:lstStyle/>
          <a:p>
            <a:pPr indent="0" marL="0">
              <a:buNone/>
            </a:pPr>
            <a:r>
              <a:rPr lang="en-US" sz="1400" dirty="0">
                <a:solidFill>
                  <a:srgbClr val="212121"/>
                </a:solidFill>
                <a:latin typeface="Calibri" pitchFamily="34" charset="0"/>
                <a:ea typeface="Calibri" pitchFamily="34" charset="-122"/>
                <a:cs typeface="Calibri" pitchFamily="34" charset="-120"/>
              </a:rPr>
              <a:t>"makes no sense"</a:t>
            </a:r>
            <a:endParaRPr lang="en-US" sz="1400" dirty="0"/>
          </a:p>
        </p:txBody>
      </p:sp>
      <p:sp>
        <p:nvSpPr>
          <p:cNvPr id="22" name="Shape 20"/>
          <p:cNvSpPr/>
          <p:nvPr/>
        </p:nvSpPr>
        <p:spPr>
          <a:xfrm>
            <a:off x="548640" y="4754880"/>
            <a:ext cx="11064240" cy="1188720"/>
          </a:xfrm>
          <a:prstGeom prst="rect">
            <a:avLst/>
          </a:prstGeom>
          <a:solidFill>
            <a:srgbClr val="F1F5F9"/>
          </a:solidFill>
          <a:ln/>
        </p:spPr>
      </p:sp>
      <p:sp>
        <p:nvSpPr>
          <p:cNvPr id="23" name="Text 21"/>
          <p:cNvSpPr/>
          <p:nvPr/>
        </p:nvSpPr>
        <p:spPr>
          <a:xfrm>
            <a:off x="731520" y="4846320"/>
            <a:ext cx="10698480" cy="36576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Why limit to ≤ 5 tokens?</a:t>
            </a:r>
            <a:endParaRPr lang="en-US" sz="1300" dirty="0"/>
          </a:p>
        </p:txBody>
      </p:sp>
      <p:sp>
        <p:nvSpPr>
          <p:cNvPr id="24" name="Text 22"/>
          <p:cNvSpPr/>
          <p:nvPr/>
        </p:nvSpPr>
        <p:spPr>
          <a:xfrm>
            <a:off x="731520" y="5212080"/>
            <a:ext cx="10698480" cy="640080"/>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Quantum circuit depth scales roughly as O(n²) with phrase length. Short phrases keep the simulator tractable while preserving compositional structure (negation, modifiers, etc.).</a:t>
            </a:r>
            <a:endParaRPr lang="en-US" sz="130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26" name="Text 24"/>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Our Contributions</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things this paper delivers</a:t>
            </a:r>
            <a:endParaRPr lang="en-US" sz="1400" dirty="0"/>
          </a:p>
        </p:txBody>
      </p:sp>
      <p:sp>
        <p:nvSpPr>
          <p:cNvPr id="4" name="Shape 2"/>
          <p:cNvSpPr/>
          <p:nvPr/>
        </p:nvSpPr>
        <p:spPr>
          <a:xfrm>
            <a:off x="548640" y="1645920"/>
            <a:ext cx="3657600" cy="640080"/>
          </a:xfrm>
          <a:prstGeom prst="rect">
            <a:avLst/>
          </a:prstGeom>
          <a:solidFill>
            <a:srgbClr val="1C7293"/>
          </a:solidFill>
          <a:ln/>
        </p:spPr>
      </p:sp>
      <p:sp>
        <p:nvSpPr>
          <p:cNvPr id="5" name="Text 3"/>
          <p:cNvSpPr/>
          <p:nvPr/>
        </p:nvSpPr>
        <p:spPr>
          <a:xfrm>
            <a:off x="731520" y="1645920"/>
            <a:ext cx="33832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Reproducible Pipeline</a:t>
            </a:r>
            <a:endParaRPr lang="en-US" sz="1600" dirty="0"/>
          </a:p>
        </p:txBody>
      </p:sp>
      <p:sp>
        <p:nvSpPr>
          <p:cNvPr id="6" name="Shape 4"/>
          <p:cNvSpPr/>
          <p:nvPr/>
        </p:nvSpPr>
        <p:spPr>
          <a:xfrm>
            <a:off x="548640" y="2286000"/>
            <a:ext cx="3657600" cy="3657600"/>
          </a:xfrm>
          <a:prstGeom prst="rect">
            <a:avLst/>
          </a:prstGeom>
          <a:solidFill>
            <a:srgbClr val="F1F5F9"/>
          </a:solidFill>
          <a:ln w="6350">
            <a:solidFill>
              <a:srgbClr val="1C7293"/>
            </a:solidFill>
            <a:prstDash val="solid"/>
          </a:ln>
        </p:spPr>
      </p:sp>
      <p:sp>
        <p:nvSpPr>
          <p:cNvPr id="7" name="Text 5"/>
          <p:cNvSpPr/>
          <p:nvPr/>
        </p:nvSpPr>
        <p:spPr>
          <a:xfrm>
            <a:off x="731520" y="2468880"/>
            <a:ext cx="3291840" cy="3291840"/>
          </a:xfrm>
          <a:prstGeom prst="rect">
            <a:avLst/>
          </a:prstGeom>
          <a:noFill/>
          <a:ln/>
        </p:spPr>
        <p:txBody>
          <a:bodyPr wrap="square" rtlCol="0" anchor="t"/>
          <a:lstStyle/>
          <a:p>
            <a:pPr indent="0" marL="0">
              <a:spcAft>
                <a:spcPts val="300"/>
              </a:spcAft>
              <a:buNone/>
            </a:pPr>
            <a:r>
              <a:rPr lang="en-US" sz="1300" dirty="0">
                <a:solidFill>
                  <a:srgbClr val="212121"/>
                </a:solidFill>
                <a:latin typeface="Calibri" pitchFamily="34" charset="0"/>
                <a:ea typeface="Calibri" pitchFamily="34" charset="-122"/>
                <a:cs typeface="Calibri" pitchFamily="34" charset="-120"/>
              </a:rPr>
              <a:t>End-to-end from raw SST to quantum circuit to McNemar test. All code, configs, predictions released as open source.</a:t>
            </a:r>
            <a:endParaRPr lang="en-US" sz="1300" dirty="0"/>
          </a:p>
        </p:txBody>
      </p:sp>
      <p:sp>
        <p:nvSpPr>
          <p:cNvPr id="8" name="Shape 6"/>
          <p:cNvSpPr/>
          <p:nvPr/>
        </p:nvSpPr>
        <p:spPr>
          <a:xfrm>
            <a:off x="4434840" y="1645920"/>
            <a:ext cx="3657600" cy="640080"/>
          </a:xfrm>
          <a:prstGeom prst="rect">
            <a:avLst/>
          </a:prstGeom>
          <a:solidFill>
            <a:srgbClr val="065A82"/>
          </a:solidFill>
          <a:ln/>
        </p:spPr>
      </p:sp>
      <p:sp>
        <p:nvSpPr>
          <p:cNvPr id="9" name="Text 7"/>
          <p:cNvSpPr/>
          <p:nvPr/>
        </p:nvSpPr>
        <p:spPr>
          <a:xfrm>
            <a:off x="4617720" y="1645920"/>
            <a:ext cx="33832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Sixty-Run Controlled Grid</a:t>
            </a:r>
            <a:endParaRPr lang="en-US" sz="1600" dirty="0"/>
          </a:p>
        </p:txBody>
      </p:sp>
      <p:sp>
        <p:nvSpPr>
          <p:cNvPr id="10" name="Shape 8"/>
          <p:cNvSpPr/>
          <p:nvPr/>
        </p:nvSpPr>
        <p:spPr>
          <a:xfrm>
            <a:off x="4434840" y="2286000"/>
            <a:ext cx="3657600" cy="3657600"/>
          </a:xfrm>
          <a:prstGeom prst="rect">
            <a:avLst/>
          </a:prstGeom>
          <a:solidFill>
            <a:srgbClr val="F1F5F9"/>
          </a:solidFill>
          <a:ln w="6350">
            <a:solidFill>
              <a:srgbClr val="065A82"/>
            </a:solidFill>
            <a:prstDash val="solid"/>
          </a:ln>
        </p:spPr>
      </p:sp>
      <p:sp>
        <p:nvSpPr>
          <p:cNvPr id="11" name="Text 9"/>
          <p:cNvSpPr/>
          <p:nvPr/>
        </p:nvSpPr>
        <p:spPr>
          <a:xfrm>
            <a:off x="4617720" y="2468880"/>
            <a:ext cx="3291840" cy="3291840"/>
          </a:xfrm>
          <a:prstGeom prst="rect">
            <a:avLst/>
          </a:prstGeom>
          <a:noFill/>
          <a:ln/>
        </p:spPr>
        <p:txBody>
          <a:bodyPr wrap="square" rtlCol="0" anchor="t"/>
          <a:lstStyle/>
          <a:p>
            <a:pPr indent="0" marL="0">
              <a:spcAft>
                <a:spcPts val="300"/>
              </a:spcAft>
              <a:buNone/>
            </a:pPr>
            <a:r>
              <a:rPr lang="en-US" sz="1300" dirty="0">
                <a:solidFill>
                  <a:srgbClr val="212121"/>
                </a:solidFill>
                <a:latin typeface="Calibri" pitchFamily="34" charset="0"/>
                <a:ea typeface="Calibri" pitchFamily="34" charset="-122"/>
                <a:cs typeface="Calibri" pitchFamily="34" charset="-120"/>
              </a:rPr>
              <a:t>2 readers × 2 ansatzes × 3 depths × 5 seeds, with three classical baselines on the same 5,000/400/400 split. Mean ± std for every config.</a:t>
            </a:r>
            <a:endParaRPr lang="en-US" sz="1300" dirty="0"/>
          </a:p>
        </p:txBody>
      </p:sp>
      <p:sp>
        <p:nvSpPr>
          <p:cNvPr id="12" name="Shape 10"/>
          <p:cNvSpPr/>
          <p:nvPr/>
        </p:nvSpPr>
        <p:spPr>
          <a:xfrm>
            <a:off x="8321040" y="1645920"/>
            <a:ext cx="3657600" cy="640080"/>
          </a:xfrm>
          <a:prstGeom prst="rect">
            <a:avLst/>
          </a:prstGeom>
          <a:solidFill>
            <a:srgbClr val="F96167"/>
          </a:solidFill>
          <a:ln/>
        </p:spPr>
      </p:sp>
      <p:sp>
        <p:nvSpPr>
          <p:cNvPr id="13" name="Text 11"/>
          <p:cNvSpPr/>
          <p:nvPr/>
        </p:nvSpPr>
        <p:spPr>
          <a:xfrm>
            <a:off x="8503920" y="1645920"/>
            <a:ext cx="33832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  Two Negative Findings</a:t>
            </a:r>
            <a:endParaRPr lang="en-US" sz="1600" dirty="0"/>
          </a:p>
        </p:txBody>
      </p:sp>
      <p:sp>
        <p:nvSpPr>
          <p:cNvPr id="14" name="Shape 12"/>
          <p:cNvSpPr/>
          <p:nvPr/>
        </p:nvSpPr>
        <p:spPr>
          <a:xfrm>
            <a:off x="8321040" y="2286000"/>
            <a:ext cx="3657600" cy="3657600"/>
          </a:xfrm>
          <a:prstGeom prst="rect">
            <a:avLst/>
          </a:prstGeom>
          <a:solidFill>
            <a:srgbClr val="F1F5F9"/>
          </a:solidFill>
          <a:ln w="6350">
            <a:solidFill>
              <a:srgbClr val="F96167"/>
            </a:solidFill>
            <a:prstDash val="solid"/>
          </a:ln>
        </p:spPr>
      </p:sp>
      <p:sp>
        <p:nvSpPr>
          <p:cNvPr id="15" name="Text 13"/>
          <p:cNvSpPr/>
          <p:nvPr/>
        </p:nvSpPr>
        <p:spPr>
          <a:xfrm>
            <a:off x="8503920" y="2468880"/>
            <a:ext cx="3291840" cy="3291840"/>
          </a:xfrm>
          <a:prstGeom prst="rect">
            <a:avLst/>
          </a:prstGeom>
          <a:noFill/>
          <a:ln/>
        </p:spPr>
        <p:txBody>
          <a:bodyPr wrap="square" rtlCol="0" anchor="t"/>
          <a:lstStyle/>
          <a:p>
            <a:pPr indent="0" marL="0">
              <a:spcAft>
                <a:spcPts val="300"/>
              </a:spcAft>
              <a:buNone/>
            </a:pPr>
            <a:r>
              <a:rPr lang="en-US" sz="1300" dirty="0">
                <a:solidFill>
                  <a:srgbClr val="212121"/>
                </a:solidFill>
                <a:latin typeface="Calibri" pitchFamily="34" charset="0"/>
                <a:ea typeface="Calibri" pitchFamily="34" charset="-122"/>
                <a:cs typeface="Calibri" pitchFamily="34" charset="-120"/>
              </a:rPr>
              <a:t>(a) Spiders reader saturates with single-qubit atomic types — every ansatz/depth gives the same result. (b) Cups + IQP exhibits a barren plateau at depth 2 that survives lr-scheduling.</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7" name="Text 15"/>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End-to-End Pipeline</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Six stages from phrase to label</a:t>
            </a:r>
            <a:endParaRPr lang="en-US" sz="1400" dirty="0"/>
          </a:p>
        </p:txBody>
      </p:sp>
      <p:sp>
        <p:nvSpPr>
          <p:cNvPr id="4" name="Shape 2"/>
          <p:cNvSpPr/>
          <p:nvPr/>
        </p:nvSpPr>
        <p:spPr>
          <a:xfrm>
            <a:off x="3200400" y="1463040"/>
            <a:ext cx="5760720" cy="640080"/>
          </a:xfrm>
          <a:prstGeom prst="roundRect">
            <a:avLst>
              <a:gd name="adj" fmla="val 7143"/>
            </a:avLst>
          </a:prstGeom>
          <a:solidFill>
            <a:srgbClr val="1C7293"/>
          </a:solidFill>
          <a:ln/>
        </p:spPr>
      </p:sp>
      <p:sp>
        <p:nvSpPr>
          <p:cNvPr id="5" name="Text 3"/>
          <p:cNvSpPr/>
          <p:nvPr/>
        </p:nvSpPr>
        <p:spPr>
          <a:xfrm>
            <a:off x="3383280" y="146304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Input phrase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"not one clever line"</a:t>
            </a:r>
            <a:endParaRPr lang="en-US" sz="1300" dirty="0"/>
          </a:p>
        </p:txBody>
      </p:sp>
      <p:sp>
        <p:nvSpPr>
          <p:cNvPr id="6" name="Text 4"/>
          <p:cNvSpPr/>
          <p:nvPr/>
        </p:nvSpPr>
        <p:spPr>
          <a:xfrm>
            <a:off x="9144000" y="2121408"/>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tokenise</a:t>
            </a:r>
            <a:endParaRPr lang="en-US" sz="1100" dirty="0"/>
          </a:p>
        </p:txBody>
      </p:sp>
      <p:sp>
        <p:nvSpPr>
          <p:cNvPr id="7" name="Shape 5"/>
          <p:cNvSpPr/>
          <p:nvPr/>
        </p:nvSpPr>
        <p:spPr>
          <a:xfrm>
            <a:off x="6080760" y="2103120"/>
            <a:ext cx="0" cy="137160"/>
          </a:xfrm>
          <a:prstGeom prst="line">
            <a:avLst/>
          </a:prstGeom>
          <a:noFill/>
          <a:ln w="25400">
            <a:solidFill>
              <a:srgbClr val="64748B"/>
            </a:solidFill>
            <a:prstDash val="solid"/>
            <a:tailEnd type="triangle"/>
          </a:ln>
        </p:spPr>
      </p:sp>
      <p:sp>
        <p:nvSpPr>
          <p:cNvPr id="8" name="Shape 6"/>
          <p:cNvSpPr/>
          <p:nvPr/>
        </p:nvSpPr>
        <p:spPr>
          <a:xfrm>
            <a:off x="3200400" y="2240280"/>
            <a:ext cx="5760720" cy="640080"/>
          </a:xfrm>
          <a:prstGeom prst="roundRect">
            <a:avLst>
              <a:gd name="adj" fmla="val 7143"/>
            </a:avLst>
          </a:prstGeom>
          <a:solidFill>
            <a:srgbClr val="1C7293"/>
          </a:solidFill>
          <a:ln/>
        </p:spPr>
      </p:sp>
      <p:sp>
        <p:nvSpPr>
          <p:cNvPr id="9" name="Text 7"/>
          <p:cNvSpPr/>
          <p:nvPr/>
        </p:nvSpPr>
        <p:spPr>
          <a:xfrm>
            <a:off x="3383280" y="224028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Tokens [not, one, clever, line]</a:t>
            </a:r>
            <a:endParaRPr lang="en-US" sz="1300" dirty="0"/>
          </a:p>
        </p:txBody>
      </p:sp>
      <p:sp>
        <p:nvSpPr>
          <p:cNvPr id="10" name="Text 8"/>
          <p:cNvSpPr/>
          <p:nvPr/>
        </p:nvSpPr>
        <p:spPr>
          <a:xfrm>
            <a:off x="9144000" y="2898648"/>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lambeq reader</a:t>
            </a:r>
            <a:endParaRPr lang="en-US" sz="1100" dirty="0"/>
          </a:p>
        </p:txBody>
      </p:sp>
      <p:sp>
        <p:nvSpPr>
          <p:cNvPr id="11" name="Shape 9"/>
          <p:cNvSpPr/>
          <p:nvPr/>
        </p:nvSpPr>
        <p:spPr>
          <a:xfrm>
            <a:off x="6080760" y="2880360"/>
            <a:ext cx="0" cy="137160"/>
          </a:xfrm>
          <a:prstGeom prst="line">
            <a:avLst/>
          </a:prstGeom>
          <a:noFill/>
          <a:ln w="25400">
            <a:solidFill>
              <a:srgbClr val="64748B"/>
            </a:solidFill>
            <a:prstDash val="solid"/>
            <a:tailEnd type="triangle"/>
          </a:ln>
        </p:spPr>
      </p:sp>
      <p:sp>
        <p:nvSpPr>
          <p:cNvPr id="12" name="Shape 10"/>
          <p:cNvSpPr/>
          <p:nvPr/>
        </p:nvSpPr>
        <p:spPr>
          <a:xfrm>
            <a:off x="3200400" y="3017520"/>
            <a:ext cx="5760720" cy="640080"/>
          </a:xfrm>
          <a:prstGeom prst="roundRect">
            <a:avLst>
              <a:gd name="adj" fmla="val 7143"/>
            </a:avLst>
          </a:prstGeom>
          <a:solidFill>
            <a:srgbClr val="065A82"/>
          </a:solidFill>
          <a:ln/>
        </p:spPr>
      </p:sp>
      <p:sp>
        <p:nvSpPr>
          <p:cNvPr id="13" name="Text 11"/>
          <p:cNvSpPr/>
          <p:nvPr/>
        </p:nvSpPr>
        <p:spPr>
          <a:xfrm>
            <a:off x="3383280" y="301752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DisCoCat string diagram</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(Spiders or Cups reader)</a:t>
            </a:r>
            <a:endParaRPr lang="en-US" sz="1300" dirty="0"/>
          </a:p>
        </p:txBody>
      </p:sp>
      <p:sp>
        <p:nvSpPr>
          <p:cNvPr id="14" name="Text 12"/>
          <p:cNvSpPr/>
          <p:nvPr/>
        </p:nvSpPr>
        <p:spPr>
          <a:xfrm>
            <a:off x="9144000" y="3675888"/>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ansatz functor</a:t>
            </a:r>
            <a:endParaRPr lang="en-US" sz="1100" dirty="0"/>
          </a:p>
        </p:txBody>
      </p:sp>
      <p:sp>
        <p:nvSpPr>
          <p:cNvPr id="15" name="Shape 13"/>
          <p:cNvSpPr/>
          <p:nvPr/>
        </p:nvSpPr>
        <p:spPr>
          <a:xfrm>
            <a:off x="6080760" y="3657600"/>
            <a:ext cx="0" cy="137160"/>
          </a:xfrm>
          <a:prstGeom prst="line">
            <a:avLst/>
          </a:prstGeom>
          <a:noFill/>
          <a:ln w="25400">
            <a:solidFill>
              <a:srgbClr val="64748B"/>
            </a:solidFill>
            <a:prstDash val="solid"/>
            <a:tailEnd type="triangle"/>
          </a:ln>
        </p:spPr>
      </p:sp>
      <p:sp>
        <p:nvSpPr>
          <p:cNvPr id="16" name="Shape 14"/>
          <p:cNvSpPr/>
          <p:nvPr/>
        </p:nvSpPr>
        <p:spPr>
          <a:xfrm>
            <a:off x="3200400" y="3794760"/>
            <a:ext cx="5760720" cy="640080"/>
          </a:xfrm>
          <a:prstGeom prst="roundRect">
            <a:avLst>
              <a:gd name="adj" fmla="val 7143"/>
            </a:avLst>
          </a:prstGeom>
          <a:solidFill>
            <a:srgbClr val="1E2761"/>
          </a:solidFill>
          <a:ln/>
        </p:spPr>
      </p:sp>
      <p:sp>
        <p:nvSpPr>
          <p:cNvPr id="17" name="Text 15"/>
          <p:cNvSpPr/>
          <p:nvPr/>
        </p:nvSpPr>
        <p:spPr>
          <a:xfrm>
            <a:off x="3383280" y="379476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Variational quantum circuit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(IQP or Sim14, depth L)</a:t>
            </a:r>
            <a:endParaRPr lang="en-US" sz="1300" dirty="0"/>
          </a:p>
        </p:txBody>
      </p:sp>
      <p:sp>
        <p:nvSpPr>
          <p:cNvPr id="18" name="Text 16"/>
          <p:cNvSpPr/>
          <p:nvPr/>
        </p:nvSpPr>
        <p:spPr>
          <a:xfrm>
            <a:off x="9144000" y="4453128"/>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PennyLane simulator</a:t>
            </a:r>
            <a:endParaRPr lang="en-US" sz="1100" dirty="0"/>
          </a:p>
        </p:txBody>
      </p:sp>
      <p:sp>
        <p:nvSpPr>
          <p:cNvPr id="19" name="Shape 17"/>
          <p:cNvSpPr/>
          <p:nvPr/>
        </p:nvSpPr>
        <p:spPr>
          <a:xfrm>
            <a:off x="6080760" y="4434840"/>
            <a:ext cx="0" cy="137160"/>
          </a:xfrm>
          <a:prstGeom prst="line">
            <a:avLst/>
          </a:prstGeom>
          <a:noFill/>
          <a:ln w="25400">
            <a:solidFill>
              <a:srgbClr val="64748B"/>
            </a:solidFill>
            <a:prstDash val="solid"/>
            <a:tailEnd type="triangle"/>
          </a:ln>
        </p:spPr>
      </p:sp>
      <p:sp>
        <p:nvSpPr>
          <p:cNvPr id="20" name="Shape 18"/>
          <p:cNvSpPr/>
          <p:nvPr/>
        </p:nvSpPr>
        <p:spPr>
          <a:xfrm>
            <a:off x="3200400" y="4572000"/>
            <a:ext cx="5760720" cy="640080"/>
          </a:xfrm>
          <a:prstGeom prst="roundRect">
            <a:avLst>
              <a:gd name="adj" fmla="val 7143"/>
            </a:avLst>
          </a:prstGeom>
          <a:solidFill>
            <a:srgbClr val="F96167"/>
          </a:solidFill>
          <a:ln/>
        </p:spPr>
      </p:sp>
      <p:sp>
        <p:nvSpPr>
          <p:cNvPr id="21" name="Text 19"/>
          <p:cNvSpPr/>
          <p:nvPr/>
        </p:nvSpPr>
        <p:spPr>
          <a:xfrm>
            <a:off x="3383280" y="457200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Output probabilities (P_NEG, P_POS)</a:t>
            </a:r>
            <a:endParaRPr lang="en-US" sz="1300" dirty="0"/>
          </a:p>
        </p:txBody>
      </p:sp>
      <p:sp>
        <p:nvSpPr>
          <p:cNvPr id="22" name="Text 20"/>
          <p:cNvSpPr/>
          <p:nvPr/>
        </p:nvSpPr>
        <p:spPr>
          <a:xfrm>
            <a:off x="9144000" y="5230368"/>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argmax</a:t>
            </a:r>
            <a:endParaRPr lang="en-US" sz="1100" dirty="0"/>
          </a:p>
        </p:txBody>
      </p:sp>
      <p:sp>
        <p:nvSpPr>
          <p:cNvPr id="23" name="Shape 21"/>
          <p:cNvSpPr/>
          <p:nvPr/>
        </p:nvSpPr>
        <p:spPr>
          <a:xfrm>
            <a:off x="6080760" y="5212080"/>
            <a:ext cx="0" cy="137160"/>
          </a:xfrm>
          <a:prstGeom prst="line">
            <a:avLst/>
          </a:prstGeom>
          <a:noFill/>
          <a:ln w="25400">
            <a:solidFill>
              <a:srgbClr val="64748B"/>
            </a:solidFill>
            <a:prstDash val="solid"/>
            <a:tailEnd type="triangle"/>
          </a:ln>
        </p:spPr>
      </p:sp>
      <p:sp>
        <p:nvSpPr>
          <p:cNvPr id="24" name="Shape 22"/>
          <p:cNvSpPr/>
          <p:nvPr/>
        </p:nvSpPr>
        <p:spPr>
          <a:xfrm>
            <a:off x="3200400" y="5349240"/>
            <a:ext cx="5760720" cy="640080"/>
          </a:xfrm>
          <a:prstGeom prst="roundRect">
            <a:avLst>
              <a:gd name="adj" fmla="val 7143"/>
            </a:avLst>
          </a:prstGeom>
          <a:solidFill>
            <a:srgbClr val="F96167"/>
          </a:solidFill>
          <a:ln/>
        </p:spPr>
      </p:sp>
      <p:sp>
        <p:nvSpPr>
          <p:cNvPr id="25" name="Text 23"/>
          <p:cNvSpPr/>
          <p:nvPr/>
        </p:nvSpPr>
        <p:spPr>
          <a:xfrm>
            <a:off x="3383280" y="5349240"/>
            <a:ext cx="539496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Predicted label</a:t>
            </a:r>
            <a:endParaRPr lang="en-US" sz="1300" dirty="0"/>
          </a:p>
        </p:txBody>
      </p:sp>
      <p:sp>
        <p:nvSpPr>
          <p:cNvPr id="26" name="Shape 24"/>
          <p:cNvSpPr/>
          <p:nvPr/>
        </p:nvSpPr>
        <p:spPr>
          <a:xfrm>
            <a:off x="457200" y="1463040"/>
            <a:ext cx="2286000" cy="4937760"/>
          </a:xfrm>
          <a:prstGeom prst="rect">
            <a:avLst/>
          </a:prstGeom>
          <a:solidFill>
            <a:srgbClr val="F1F5F9"/>
          </a:solidFill>
          <a:ln/>
        </p:spPr>
      </p:sp>
      <p:sp>
        <p:nvSpPr>
          <p:cNvPr id="27" name="Text 25"/>
          <p:cNvSpPr/>
          <p:nvPr/>
        </p:nvSpPr>
        <p:spPr>
          <a:xfrm>
            <a:off x="548640" y="1645920"/>
            <a:ext cx="210312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Two design</a:t>
            </a: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choices ablated</a:t>
            </a:r>
            <a:endParaRPr lang="en-US" sz="1300" dirty="0"/>
          </a:p>
        </p:txBody>
      </p:sp>
      <p:sp>
        <p:nvSpPr>
          <p:cNvPr id="28" name="Text 26"/>
          <p:cNvSpPr/>
          <p:nvPr/>
        </p:nvSpPr>
        <p:spPr>
          <a:xfrm>
            <a:off x="548640" y="2468880"/>
            <a:ext cx="2103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Reader:</a:t>
            </a:r>
            <a:endParaRPr lang="en-US" sz="1200" dirty="0"/>
          </a:p>
        </p:txBody>
      </p:sp>
      <p:sp>
        <p:nvSpPr>
          <p:cNvPr id="29" name="Text 27"/>
          <p:cNvSpPr/>
          <p:nvPr/>
        </p:nvSpPr>
        <p:spPr>
          <a:xfrm>
            <a:off x="548640" y="2743200"/>
            <a:ext cx="2103120" cy="274320"/>
          </a:xfrm>
          <a:prstGeom prst="rect">
            <a:avLst/>
          </a:prstGeom>
          <a:noFill/>
          <a:ln/>
        </p:spPr>
        <p:txBody>
          <a:bodyPr wrap="square" lIns="0" tIns="0" rIns="0" bIns="0" rtlCol="0" anchor="ctr"/>
          <a:lstStyle/>
          <a:p>
            <a:pPr indent="0" marL="0">
              <a:buNone/>
            </a:pPr>
            <a:r>
              <a:rPr lang="en-US" sz="1200" dirty="0">
                <a:solidFill>
                  <a:srgbClr val="212121"/>
                </a:solidFill>
                <a:latin typeface="Calibri" pitchFamily="34" charset="0"/>
                <a:ea typeface="Calibri" pitchFamily="34" charset="-122"/>
                <a:cs typeface="Calibri" pitchFamily="34" charset="-120"/>
              </a:rPr>
              <a:t>Spiders / Cups</a:t>
            </a:r>
            <a:endParaRPr lang="en-US" sz="1200" dirty="0"/>
          </a:p>
        </p:txBody>
      </p:sp>
      <p:sp>
        <p:nvSpPr>
          <p:cNvPr id="30" name="Text 28"/>
          <p:cNvSpPr/>
          <p:nvPr/>
        </p:nvSpPr>
        <p:spPr>
          <a:xfrm>
            <a:off x="548640" y="3200400"/>
            <a:ext cx="210312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Ansatz:</a:t>
            </a:r>
            <a:endParaRPr lang="en-US" sz="1200" dirty="0"/>
          </a:p>
        </p:txBody>
      </p:sp>
      <p:sp>
        <p:nvSpPr>
          <p:cNvPr id="31" name="Text 29"/>
          <p:cNvSpPr/>
          <p:nvPr/>
        </p:nvSpPr>
        <p:spPr>
          <a:xfrm>
            <a:off x="548640" y="3474720"/>
            <a:ext cx="2103120" cy="274320"/>
          </a:xfrm>
          <a:prstGeom prst="rect">
            <a:avLst/>
          </a:prstGeom>
          <a:noFill/>
          <a:ln/>
        </p:spPr>
        <p:txBody>
          <a:bodyPr wrap="square" lIns="0" tIns="0" rIns="0" bIns="0" rtlCol="0" anchor="ctr"/>
          <a:lstStyle/>
          <a:p>
            <a:pPr indent="0" marL="0">
              <a:buNone/>
            </a:pPr>
            <a:r>
              <a:rPr lang="en-US" sz="1200" dirty="0">
                <a:solidFill>
                  <a:srgbClr val="212121"/>
                </a:solidFill>
                <a:latin typeface="Calibri" pitchFamily="34" charset="0"/>
                <a:ea typeface="Calibri" pitchFamily="34" charset="-122"/>
                <a:cs typeface="Calibri" pitchFamily="34" charset="-120"/>
              </a:rPr>
              <a:t>IQP / Sim14</a:t>
            </a:r>
            <a:endParaRPr lang="en-US" sz="1200" dirty="0"/>
          </a:p>
        </p:txBody>
      </p:sp>
      <p:sp>
        <p:nvSpPr>
          <p:cNvPr id="32" name="Text 30"/>
          <p:cNvSpPr/>
          <p:nvPr/>
        </p:nvSpPr>
        <p:spPr>
          <a:xfrm>
            <a:off x="548640" y="3931920"/>
            <a:ext cx="2103120" cy="274320"/>
          </a:xfrm>
          <a:prstGeom prst="rect">
            <a:avLst/>
          </a:prstGeom>
          <a:noFill/>
          <a:ln/>
        </p:spPr>
        <p:txBody>
          <a:bodyPr wrap="square" lIns="0" tIns="0" rIns="0" bIns="0" rtlCol="0" anchor="ctr"/>
          <a:lstStyle/>
          <a:p>
            <a:pPr indent="0" marL="0">
              <a:buNone/>
            </a:pPr>
            <a:r>
              <a:rPr lang="en-US" sz="1200" b="1" dirty="0">
                <a:solidFill>
                  <a:srgbClr val="F96167"/>
                </a:solidFill>
                <a:latin typeface="Calibri" pitchFamily="34" charset="0"/>
                <a:ea typeface="Calibri" pitchFamily="34" charset="-122"/>
                <a:cs typeface="Calibri" pitchFamily="34" charset="-120"/>
              </a:rPr>
              <a:t>Depth:</a:t>
            </a:r>
            <a:endParaRPr lang="en-US" sz="1200" dirty="0"/>
          </a:p>
        </p:txBody>
      </p:sp>
      <p:sp>
        <p:nvSpPr>
          <p:cNvPr id="33" name="Text 31"/>
          <p:cNvSpPr/>
          <p:nvPr/>
        </p:nvSpPr>
        <p:spPr>
          <a:xfrm>
            <a:off x="548640" y="4206240"/>
            <a:ext cx="2103120" cy="274320"/>
          </a:xfrm>
          <a:prstGeom prst="rect">
            <a:avLst/>
          </a:prstGeom>
          <a:noFill/>
          <a:ln/>
        </p:spPr>
        <p:txBody>
          <a:bodyPr wrap="square" lIns="0" tIns="0" rIns="0" bIns="0" rtlCol="0" anchor="ctr"/>
          <a:lstStyle/>
          <a:p>
            <a:pPr indent="0" marL="0">
              <a:buNone/>
            </a:pPr>
            <a:r>
              <a:rPr lang="en-US" sz="1200" dirty="0">
                <a:solidFill>
                  <a:srgbClr val="212121"/>
                </a:solidFill>
                <a:latin typeface="Calibri" pitchFamily="34" charset="0"/>
                <a:ea typeface="Calibri" pitchFamily="34" charset="-122"/>
                <a:cs typeface="Calibri" pitchFamily="34" charset="-120"/>
              </a:rPr>
              <a:t>L = 1, 2, 3</a:t>
            </a:r>
            <a:endParaRPr lang="en-US" sz="1200" dirty="0"/>
          </a:p>
        </p:txBody>
      </p:sp>
      <p:sp>
        <p:nvSpPr>
          <p:cNvPr id="34" name="Text 32"/>
          <p:cNvSpPr/>
          <p:nvPr/>
        </p:nvSpPr>
        <p:spPr>
          <a:xfrm>
            <a:off x="548640" y="4663440"/>
            <a:ext cx="2103120"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Seeds:</a:t>
            </a:r>
            <a:endParaRPr lang="en-US" sz="1200" dirty="0"/>
          </a:p>
        </p:txBody>
      </p:sp>
      <p:sp>
        <p:nvSpPr>
          <p:cNvPr id="35" name="Text 33"/>
          <p:cNvSpPr/>
          <p:nvPr/>
        </p:nvSpPr>
        <p:spPr>
          <a:xfrm>
            <a:off x="548640" y="4937760"/>
            <a:ext cx="2103120" cy="274320"/>
          </a:xfrm>
          <a:prstGeom prst="rect">
            <a:avLst/>
          </a:prstGeom>
          <a:noFill/>
          <a:ln/>
        </p:spPr>
        <p:txBody>
          <a:bodyPr wrap="square" lIns="0" tIns="0" rIns="0" bIns="0" rtlCol="0" anchor="ctr"/>
          <a:lstStyle/>
          <a:p>
            <a:pPr indent="0" marL="0">
              <a:buNone/>
            </a:pPr>
            <a:r>
              <a:rPr lang="en-US" sz="1200" dirty="0">
                <a:solidFill>
                  <a:srgbClr val="212121"/>
                </a:solidFill>
                <a:latin typeface="Calibri" pitchFamily="34" charset="0"/>
                <a:ea typeface="Calibri" pitchFamily="34" charset="-122"/>
                <a:cs typeface="Calibri" pitchFamily="34" charset="-120"/>
              </a:rPr>
              <a:t>0–4 (5 runs)</a:t>
            </a:r>
            <a:endParaRPr lang="en-US" sz="1200" dirty="0"/>
          </a:p>
        </p:txBody>
      </p:sp>
      <p:sp>
        <p:nvSpPr>
          <p:cNvPr id="36" name="Text 3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37" name="Text 35"/>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Dataset Preparation</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Two-stage sampling to keep test vocabulary ⊆ train vocabulary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412480" cy="914400"/>
        </p:xfrm>
        <a:graphic>
          <a:graphicData uri="http://schemas.openxmlformats.org/drawingml/2006/table">
            <a:tbl>
              <a:tblPr/>
              <a:tblGrid>
                <a:gridCol w="4297680"/>
                <a:gridCol w="1371600"/>
                <a:gridCol w="1371600"/>
                <a:gridCol w="1371600"/>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Dev</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Raw phrases (length ≤ 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37,883</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4,735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4,737</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After 2 ≤ length ≤ 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33,399</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4,195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4,162</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After lowercase + vocab-1000 + OOV filter</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9,711</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1,172</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1,216</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After class-balanced sampling (train first)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5,000</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After word-coverage filter (dev/test ⊆ train words)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935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1,018</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Final balanced 50:50 sample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ADCFC"/>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5,000</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ADCFC"/>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ADCFC"/>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ADCFC"/>
                    </a:solidFill>
                  </a:tcPr>
                </a:tc>
              </a:tr>
            </a:tbl>
          </a:graphicData>
        </a:graphic>
      </p:graphicFrame>
      <p:sp>
        <p:nvSpPr>
          <p:cNvPr id="5" name="Shape 2"/>
          <p:cNvSpPr/>
          <p:nvPr/>
        </p:nvSpPr>
        <p:spPr>
          <a:xfrm>
            <a:off x="9235440" y="1554480"/>
            <a:ext cx="2468880" cy="4114800"/>
          </a:xfrm>
          <a:prstGeom prst="rect">
            <a:avLst/>
          </a:prstGeom>
          <a:solidFill>
            <a:srgbClr val="F1F5F9"/>
          </a:solidFill>
          <a:ln w="12700">
            <a:solidFill>
              <a:srgbClr val="F96167"/>
            </a:solidFill>
            <a:prstDash val="solid"/>
          </a:ln>
        </p:spPr>
      </p:sp>
      <p:sp>
        <p:nvSpPr>
          <p:cNvPr id="6" name="Text 3"/>
          <p:cNvSpPr/>
          <p:nvPr/>
        </p:nvSpPr>
        <p:spPr>
          <a:xfrm>
            <a:off x="9372600" y="1691640"/>
            <a:ext cx="2286000" cy="365760"/>
          </a:xfrm>
          <a:prstGeom prst="rect">
            <a:avLst/>
          </a:prstGeom>
          <a:noFill/>
          <a:ln/>
        </p:spPr>
        <p:txBody>
          <a:bodyPr wrap="square" lIns="0" tIns="0" rIns="0" bIns="0" rtlCol="0" anchor="ctr"/>
          <a:lstStyle/>
          <a:p>
            <a:pPr indent="0" marL="0">
              <a:buNone/>
            </a:pPr>
            <a:r>
              <a:rPr lang="en-US" sz="1200" b="1" dirty="0">
                <a:solidFill>
                  <a:srgbClr val="F96167"/>
                </a:solidFill>
                <a:latin typeface="Calibri" pitchFamily="34" charset="0"/>
                <a:ea typeface="Calibri" pitchFamily="34" charset="-122"/>
                <a:cs typeface="Calibri" pitchFamily="34" charset="-120"/>
              </a:rPr>
              <a:t>Why two-stage?</a:t>
            </a:r>
            <a:endParaRPr lang="en-US" sz="1200" dirty="0"/>
          </a:p>
        </p:txBody>
      </p:sp>
      <p:sp>
        <p:nvSpPr>
          <p:cNvPr id="7" name="Text 4"/>
          <p:cNvSpPr/>
          <p:nvPr/>
        </p:nvSpPr>
        <p:spPr>
          <a:xfrm>
            <a:off x="9372600" y="2103120"/>
            <a:ext cx="2286000" cy="3474720"/>
          </a:xfrm>
          <a:prstGeom prst="rect">
            <a:avLst/>
          </a:prstGeom>
          <a:noFill/>
          <a:ln/>
        </p:spPr>
        <p:txBody>
          <a:bodyPr wrap="square" rtlCol="0" anchor="t"/>
          <a:lstStyle/>
          <a:p>
            <a:pPr indent="0" marL="0">
              <a:buNone/>
            </a:pPr>
            <a:r>
              <a:rPr lang="en-US" sz="1100" dirty="0">
                <a:solidFill>
                  <a:srgbClr val="212121"/>
                </a:solidFill>
                <a:latin typeface="Calibri" pitchFamily="34" charset="0"/>
                <a:ea typeface="Calibri" pitchFamily="34" charset="-122"/>
                <a:cs typeface="Calibri" pitchFamily="34" charset="-120"/>
              </a:rPr>
              <a:t>In QNLP, every test word must have a learned parameter (a fixed symbol-to-tensor map). If we sample splits independently, test phrases may contain words not in qnlp_train, and the saved quantum model fails on them.</a:t>
            </a:r>
            <a:endParaRPr lang="en-US" sz="1100" dirty="0"/>
          </a:p>
        </p:txBody>
      </p:sp>
      <p:sp>
        <p:nvSpPr>
          <p:cNvPr id="8"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9" name="Text 6"/>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Two Readers, Two Diagrams</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Both shown for the phrase "pure comedy"</a:t>
            </a:r>
            <a:endParaRPr lang="en-US" sz="1400" dirty="0"/>
          </a:p>
        </p:txBody>
      </p:sp>
      <p:sp>
        <p:nvSpPr>
          <p:cNvPr id="4" name="Text 2"/>
          <p:cNvSpPr/>
          <p:nvPr/>
        </p:nvSpPr>
        <p:spPr>
          <a:xfrm>
            <a:off x="548640" y="1554480"/>
            <a:ext cx="5303520" cy="365760"/>
          </a:xfrm>
          <a:prstGeom prst="rect">
            <a:avLst/>
          </a:prstGeom>
          <a:noFill/>
          <a:ln/>
        </p:spPr>
        <p:txBody>
          <a:bodyPr wrap="square" lIns="0" tIns="0" rIns="0" bIns="0" rtlCol="0" anchor="ctr"/>
          <a:lstStyle/>
          <a:p>
            <a:pPr indent="0" marL="0">
              <a:buNone/>
            </a:pPr>
            <a:r>
              <a:rPr lang="en-US" sz="1700" b="1" dirty="0">
                <a:solidFill>
                  <a:srgbClr val="1C7293"/>
                </a:solidFill>
                <a:latin typeface="Calibri" pitchFamily="34" charset="0"/>
                <a:ea typeface="Calibri" pitchFamily="34" charset="-122"/>
                <a:cs typeface="Calibri" pitchFamily="34" charset="-120"/>
              </a:rPr>
              <a:t>Spiders reader</a:t>
            </a:r>
            <a:endParaRPr lang="en-US" sz="1700" dirty="0"/>
          </a:p>
        </p:txBody>
      </p:sp>
      <p:pic>
        <p:nvPicPr>
          <p:cNvPr id="5" name="Image 0" descr="/Users/linhdo/Documents/HUB/NCS/DH Mở/3. NLP/quantum_project/report/figures/spiders_example.png">    </p:cNvPr>
          <p:cNvPicPr>
            <a:picLocks noChangeAspect="1"/>
          </p:cNvPicPr>
          <p:nvPr/>
        </p:nvPicPr>
        <p:blipFill>
          <a:blip r:embed="rId1"/>
          <a:srcRect l="0" r="0" t="0" b="0"/>
          <a:stretch/>
        </p:blipFill>
        <p:spPr>
          <a:xfrm>
            <a:off x="548640" y="2011680"/>
            <a:ext cx="5303520" cy="2926080"/>
          </a:xfrm>
          <a:prstGeom prst="rect">
            <a:avLst/>
          </a:prstGeom>
        </p:spPr>
      </p:pic>
      <p:sp>
        <p:nvSpPr>
          <p:cNvPr id="6" name="Text 3"/>
          <p:cNvSpPr/>
          <p:nvPr/>
        </p:nvSpPr>
        <p:spPr>
          <a:xfrm>
            <a:off x="548640" y="5029200"/>
            <a:ext cx="5303520" cy="1371600"/>
          </a:xfrm>
          <a:prstGeom prst="rect">
            <a:avLst/>
          </a:prstGeom>
          <a:noFill/>
          <a:ln/>
        </p:spPr>
        <p:txBody>
          <a:bodyPr wrap="square" rtlCol="0" anchor="ctr"/>
          <a:lstStyle/>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Every word → atomic type s</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Frobenius spider merges all wires</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Loses token order; param-cheap</a:t>
            </a:r>
            <a:endParaRPr lang="en-US" sz="1300" dirty="0"/>
          </a:p>
        </p:txBody>
      </p:sp>
      <p:sp>
        <p:nvSpPr>
          <p:cNvPr id="7" name="Text 4"/>
          <p:cNvSpPr/>
          <p:nvPr/>
        </p:nvSpPr>
        <p:spPr>
          <a:xfrm>
            <a:off x="6400800" y="1554480"/>
            <a:ext cx="5303520" cy="365760"/>
          </a:xfrm>
          <a:prstGeom prst="rect">
            <a:avLst/>
          </a:prstGeom>
          <a:noFill/>
          <a:ln/>
        </p:spPr>
        <p:txBody>
          <a:bodyPr wrap="square" lIns="0" tIns="0" rIns="0" bIns="0"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Cups reader</a:t>
            </a:r>
            <a:endParaRPr lang="en-US" sz="1700" dirty="0"/>
          </a:p>
        </p:txBody>
      </p:sp>
      <p:pic>
        <p:nvPicPr>
          <p:cNvPr id="8" name="Image 1" descr="/Users/linhdo/Documents/HUB/NCS/DH Mở/3. NLP/quantum_project/report/figures/cups_example.png">    </p:cNvPr>
          <p:cNvPicPr>
            <a:picLocks noChangeAspect="1"/>
          </p:cNvPicPr>
          <p:nvPr/>
        </p:nvPicPr>
        <p:blipFill>
          <a:blip r:embed="rId2"/>
          <a:srcRect l="0" r="0" t="0" b="0"/>
          <a:stretch/>
        </p:blipFill>
        <p:spPr>
          <a:xfrm>
            <a:off x="6400800" y="2011680"/>
            <a:ext cx="5303520" cy="2926080"/>
          </a:xfrm>
          <a:prstGeom prst="rect">
            <a:avLst/>
          </a:prstGeom>
        </p:spPr>
      </p:pic>
      <p:sp>
        <p:nvSpPr>
          <p:cNvPr id="9" name="Text 5"/>
          <p:cNvSpPr/>
          <p:nvPr/>
        </p:nvSpPr>
        <p:spPr>
          <a:xfrm>
            <a:off x="6400800" y="5029200"/>
            <a:ext cx="5303520" cy="1371600"/>
          </a:xfrm>
          <a:prstGeom prst="rect">
            <a:avLst/>
          </a:prstGeom>
          <a:noFill/>
          <a:ln/>
        </p:spPr>
        <p:txBody>
          <a:bodyPr wrap="square" rtlCol="0" anchor="ctr"/>
          <a:lstStyle/>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Words carry pregroup type s.r ⊗ s</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Cups contract adjacent adjoints</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Respects token order; more qubits per box</a:t>
            </a:r>
            <a:endParaRPr lang="en-US" sz="1300" dirty="0"/>
          </a:p>
        </p:txBody>
      </p:sp>
      <p:sp>
        <p:nvSpPr>
          <p:cNvPr id="10"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1" name="Text 7"/>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Quantum Training Configuration</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Adam + LR scheduler + gradient clipping</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772400" cy="914400"/>
        </p:xfrm>
        <a:graphic>
          <a:graphicData uri="http://schemas.openxmlformats.org/drawingml/2006/table">
            <a:tbl>
              <a:tblPr/>
              <a:tblGrid>
                <a:gridCol w="3200400"/>
                <a:gridCol w="4572000"/>
              </a:tblGrid>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Optimizer</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Adam</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Learning rate</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0.01</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Weight decay</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1e-4</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Gradient clipping (max norm)</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1.0</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LR scheduler</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ReduceLROnPlateau (factor 0.5, patience 7)</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32</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Max epochs</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200</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Early-stop patience</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20</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Atomic types</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qN = qS = 1 qubit</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Loss</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Cross-entropy (one-hot 2-class)</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Simulator</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PennyLane lightning.qubit (CPU)</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1F5F9"/>
                    </a:solidFill>
                  </a:tcPr>
                </a:tc>
              </a:tr>
              <a:tr h="0">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Seeds per config</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5 independent runs</a:t>
                      </a:r>
                      <a:endParaRPr lang="en-US" sz="1300" dirty="0">
                        <a:latin typeface="Consolas" charset="0"/>
                        <a:ea typeface="Consolas" charset="0"/>
                        <a:cs typeface="Consolas"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8686800" y="1554480"/>
            <a:ext cx="3017520" cy="4572000"/>
          </a:xfrm>
          <a:prstGeom prst="rect">
            <a:avLst/>
          </a:prstGeom>
          <a:solidFill>
            <a:srgbClr val="1E2761"/>
          </a:solidFill>
          <a:ln/>
        </p:spPr>
      </p:sp>
      <p:sp>
        <p:nvSpPr>
          <p:cNvPr id="6" name="Text 3"/>
          <p:cNvSpPr/>
          <p:nvPr/>
        </p:nvSpPr>
        <p:spPr>
          <a:xfrm>
            <a:off x="8869680" y="1737360"/>
            <a:ext cx="2743200" cy="36576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Compute budget</a:t>
            </a:r>
            <a:endParaRPr lang="en-US" sz="1300" dirty="0"/>
          </a:p>
        </p:txBody>
      </p:sp>
      <p:sp>
        <p:nvSpPr>
          <p:cNvPr id="7" name="Text 4"/>
          <p:cNvSpPr/>
          <p:nvPr/>
        </p:nvSpPr>
        <p:spPr>
          <a:xfrm>
            <a:off x="8869680" y="2286000"/>
            <a:ext cx="27432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~12 h</a:t>
            </a:r>
            <a:endParaRPr lang="en-US" sz="4800" dirty="0"/>
          </a:p>
        </p:txBody>
      </p:sp>
      <p:sp>
        <p:nvSpPr>
          <p:cNvPr id="8" name="Text 5"/>
          <p:cNvSpPr/>
          <p:nvPr/>
        </p:nvSpPr>
        <p:spPr>
          <a:xfrm>
            <a:off x="8869680" y="3383280"/>
            <a:ext cx="2743200" cy="640080"/>
          </a:xfrm>
          <a:prstGeom prst="rect">
            <a:avLst/>
          </a:prstGeom>
          <a:noFill/>
          <a:ln/>
        </p:spPr>
        <p:txBody>
          <a:bodyPr wrap="square" lIns="0" tIns="0" rIns="0" bIns="0"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for 60 quantum runs</a:t>
            </a:r>
            <a:endParaRPr lang="en-US" sz="1200" dirty="0"/>
          </a:p>
          <a:p>
            <a:pPr algn="ctr" indent="0" marL="0">
              <a:buNone/>
            </a:pPr>
            <a:r>
              <a:rPr lang="en-US" sz="1200" i="1" dirty="0">
                <a:solidFill>
                  <a:srgbClr val="CADCFC"/>
                </a:solidFill>
                <a:latin typeface="Calibri" pitchFamily="34" charset="0"/>
                <a:ea typeface="Calibri" pitchFamily="34" charset="-122"/>
                <a:cs typeface="Calibri" pitchFamily="34" charset="-120"/>
              </a:rPr>
              <a:t>on single 8-core CPU</a:t>
            </a:r>
            <a:endParaRPr lang="en-US" sz="1200" dirty="0"/>
          </a:p>
        </p:txBody>
      </p:sp>
      <p:sp>
        <p:nvSpPr>
          <p:cNvPr id="9" name="Text 6"/>
          <p:cNvSpPr/>
          <p:nvPr/>
        </p:nvSpPr>
        <p:spPr>
          <a:xfrm>
            <a:off x="8869680" y="4572000"/>
            <a:ext cx="2743200" cy="11887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Classical baselines: ~3 min</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Test eval: ~5 min</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Analysis: ~2 min</a:t>
            </a:r>
            <a:endParaRPr lang="en-US" sz="1100" dirty="0"/>
          </a:p>
        </p:txBody>
      </p:sp>
      <p:sp>
        <p:nvSpPr>
          <p:cNvPr id="10"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1" name="Text 8"/>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Classical Baselines</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reference points on the same data</a:t>
            </a:r>
            <a:endParaRPr lang="en-US" sz="1400" dirty="0"/>
          </a:p>
        </p:txBody>
      </p:sp>
      <p:sp>
        <p:nvSpPr>
          <p:cNvPr id="4" name="Shape 2"/>
          <p:cNvSpPr/>
          <p:nvPr/>
        </p:nvSpPr>
        <p:spPr>
          <a:xfrm>
            <a:off x="457200" y="1554480"/>
            <a:ext cx="3657600" cy="4572000"/>
          </a:xfrm>
          <a:prstGeom prst="rect">
            <a:avLst/>
          </a:prstGeom>
          <a:solidFill>
            <a:srgbClr val="FFFFFF"/>
          </a:solidFill>
          <a:ln w="25400">
            <a:solidFill>
              <a:srgbClr val="1C7293"/>
            </a:solidFill>
            <a:prstDash val="solid"/>
          </a:ln>
        </p:spPr>
      </p:sp>
      <p:sp>
        <p:nvSpPr>
          <p:cNvPr id="5" name="Shape 3"/>
          <p:cNvSpPr/>
          <p:nvPr/>
        </p:nvSpPr>
        <p:spPr>
          <a:xfrm>
            <a:off x="457200" y="1554480"/>
            <a:ext cx="3657600" cy="731520"/>
          </a:xfrm>
          <a:prstGeom prst="rect">
            <a:avLst/>
          </a:prstGeom>
          <a:solidFill>
            <a:srgbClr val="1C7293"/>
          </a:solidFill>
          <a:ln/>
        </p:spPr>
      </p:sp>
      <p:sp>
        <p:nvSpPr>
          <p:cNvPr id="6" name="Text 4"/>
          <p:cNvSpPr/>
          <p:nvPr/>
        </p:nvSpPr>
        <p:spPr>
          <a:xfrm>
            <a:off x="640080" y="1600200"/>
            <a:ext cx="32918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LR + TF-IDF</a:t>
            </a:r>
            <a:endParaRPr lang="en-US" sz="1600" dirty="0"/>
          </a:p>
        </p:txBody>
      </p:sp>
      <p:sp>
        <p:nvSpPr>
          <p:cNvPr id="7" name="Text 5"/>
          <p:cNvSpPr/>
          <p:nvPr/>
        </p:nvSpPr>
        <p:spPr>
          <a:xfrm>
            <a:off x="640080" y="2011680"/>
            <a:ext cx="329184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(unigram + bigram, C grid-searched)</a:t>
            </a:r>
            <a:endParaRPr lang="en-US" sz="1000" dirty="0"/>
          </a:p>
        </p:txBody>
      </p:sp>
      <p:sp>
        <p:nvSpPr>
          <p:cNvPr id="8" name="Text 6"/>
          <p:cNvSpPr/>
          <p:nvPr/>
        </p:nvSpPr>
        <p:spPr>
          <a:xfrm>
            <a:off x="457200" y="2468880"/>
            <a:ext cx="3657600" cy="1097280"/>
          </a:xfrm>
          <a:prstGeom prst="rect">
            <a:avLst/>
          </a:prstGeom>
          <a:noFill/>
          <a:ln/>
        </p:spPr>
        <p:txBody>
          <a:bodyPr wrap="square" lIns="0" tIns="0" rIns="0" bIns="0" rtlCol="0" anchor="ctr"/>
          <a:lstStyle/>
          <a:p>
            <a:pPr algn="ctr" indent="0" marL="0">
              <a:buNone/>
            </a:pPr>
            <a:r>
              <a:rPr lang="en-US" sz="4800" b="1" dirty="0">
                <a:solidFill>
                  <a:srgbClr val="1C7293"/>
                </a:solidFill>
                <a:latin typeface="Calibri" pitchFamily="34" charset="0"/>
                <a:ea typeface="Calibri" pitchFamily="34" charset="-122"/>
                <a:cs typeface="Calibri" pitchFamily="34" charset="-120"/>
              </a:rPr>
              <a:t>94.25%</a:t>
            </a:r>
            <a:endParaRPr lang="en-US" sz="4800" dirty="0"/>
          </a:p>
        </p:txBody>
      </p:sp>
      <p:sp>
        <p:nvSpPr>
          <p:cNvPr id="9" name="Text 7"/>
          <p:cNvSpPr/>
          <p:nvPr/>
        </p:nvSpPr>
        <p:spPr>
          <a:xfrm>
            <a:off x="457200" y="3566160"/>
            <a:ext cx="36576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test accuracy</a:t>
            </a:r>
            <a:endParaRPr lang="en-US" sz="1100" dirty="0"/>
          </a:p>
        </p:txBody>
      </p:sp>
      <p:sp>
        <p:nvSpPr>
          <p:cNvPr id="10" name="Text 8"/>
          <p:cNvSpPr/>
          <p:nvPr/>
        </p:nvSpPr>
        <p:spPr>
          <a:xfrm>
            <a:off x="640080" y="3931920"/>
            <a:ext cx="3291840" cy="36576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2,829 features</a:t>
            </a:r>
            <a:endParaRPr lang="en-US" sz="1300" dirty="0"/>
          </a:p>
        </p:txBody>
      </p:sp>
      <p:sp>
        <p:nvSpPr>
          <p:cNvPr id="11" name="Text 9"/>
          <p:cNvSpPr/>
          <p:nvPr/>
        </p:nvSpPr>
        <p:spPr>
          <a:xfrm>
            <a:off x="640080" y="4389120"/>
            <a:ext cx="3291840" cy="1371600"/>
          </a:xfrm>
          <a:prstGeom prst="rect">
            <a:avLst/>
          </a:prstGeom>
          <a:noFill/>
          <a:ln/>
        </p:spPr>
        <p:txBody>
          <a:bodyPr wrap="square"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Sparse, lexical. Bigrams capture</a:t>
            </a:r>
            <a:endParaRPr lang="en-US" sz="1200" dirty="0"/>
          </a:p>
          <a:p>
            <a:pPr algn="ctr" indent="0" marL="0">
              <a:buNone/>
            </a:pPr>
            <a:r>
              <a:rPr lang="en-US" sz="1200" dirty="0">
                <a:solidFill>
                  <a:srgbClr val="212121"/>
                </a:solidFill>
                <a:latin typeface="Calibri" pitchFamily="34" charset="0"/>
                <a:ea typeface="Calibri" pitchFamily="34" charset="-122"/>
                <a:cs typeface="Calibri" pitchFamily="34" charset="-120"/>
              </a:rPr>
              <a:t>negation patterns like "not good".</a:t>
            </a:r>
            <a:endParaRPr lang="en-US" sz="1200" dirty="0"/>
          </a:p>
        </p:txBody>
      </p:sp>
      <p:sp>
        <p:nvSpPr>
          <p:cNvPr id="12" name="Shape 10"/>
          <p:cNvSpPr/>
          <p:nvPr/>
        </p:nvSpPr>
        <p:spPr>
          <a:xfrm>
            <a:off x="4389120" y="1554480"/>
            <a:ext cx="3657600" cy="4572000"/>
          </a:xfrm>
          <a:prstGeom prst="rect">
            <a:avLst/>
          </a:prstGeom>
          <a:solidFill>
            <a:srgbClr val="FFFFFF"/>
          </a:solidFill>
          <a:ln w="25400">
            <a:solidFill>
              <a:srgbClr val="065A82"/>
            </a:solidFill>
            <a:prstDash val="solid"/>
          </a:ln>
        </p:spPr>
      </p:sp>
      <p:sp>
        <p:nvSpPr>
          <p:cNvPr id="13" name="Shape 11"/>
          <p:cNvSpPr/>
          <p:nvPr/>
        </p:nvSpPr>
        <p:spPr>
          <a:xfrm>
            <a:off x="4389120" y="1554480"/>
            <a:ext cx="3657600" cy="731520"/>
          </a:xfrm>
          <a:prstGeom prst="rect">
            <a:avLst/>
          </a:prstGeom>
          <a:solidFill>
            <a:srgbClr val="065A82"/>
          </a:solidFill>
          <a:ln/>
        </p:spPr>
      </p:sp>
      <p:sp>
        <p:nvSpPr>
          <p:cNvPr id="14" name="Text 12"/>
          <p:cNvSpPr/>
          <p:nvPr/>
        </p:nvSpPr>
        <p:spPr>
          <a:xfrm>
            <a:off x="4572000" y="1600200"/>
            <a:ext cx="32918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BiLSTM (1 layer)</a:t>
            </a:r>
            <a:endParaRPr lang="en-US" sz="1600" dirty="0"/>
          </a:p>
        </p:txBody>
      </p:sp>
      <p:sp>
        <p:nvSpPr>
          <p:cNvPr id="15" name="Text 13"/>
          <p:cNvSpPr/>
          <p:nvPr/>
        </p:nvSpPr>
        <p:spPr>
          <a:xfrm>
            <a:off x="4572000" y="2011680"/>
            <a:ext cx="329184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(emb 32, hidden 64, dropout 0.3)</a:t>
            </a:r>
            <a:endParaRPr lang="en-US" sz="1000" dirty="0"/>
          </a:p>
        </p:txBody>
      </p:sp>
      <p:sp>
        <p:nvSpPr>
          <p:cNvPr id="16" name="Text 14"/>
          <p:cNvSpPr/>
          <p:nvPr/>
        </p:nvSpPr>
        <p:spPr>
          <a:xfrm>
            <a:off x="4389120" y="2468880"/>
            <a:ext cx="3657600" cy="1097280"/>
          </a:xfrm>
          <a:prstGeom prst="rect">
            <a:avLst/>
          </a:prstGeom>
          <a:noFill/>
          <a:ln/>
        </p:spPr>
        <p:txBody>
          <a:bodyPr wrap="square" lIns="0" tIns="0" rIns="0" bIns="0" rtlCol="0" anchor="ctr"/>
          <a:lstStyle/>
          <a:p>
            <a:pPr algn="ctr" indent="0" marL="0">
              <a:buNone/>
            </a:pPr>
            <a:r>
              <a:rPr lang="en-US" sz="4800" b="1" dirty="0">
                <a:solidFill>
                  <a:srgbClr val="065A82"/>
                </a:solidFill>
                <a:latin typeface="Calibri" pitchFamily="34" charset="0"/>
                <a:ea typeface="Calibri" pitchFamily="34" charset="-122"/>
                <a:cs typeface="Calibri" pitchFamily="34" charset="-120"/>
              </a:rPr>
              <a:t>91.83%</a:t>
            </a:r>
            <a:endParaRPr lang="en-US" sz="4800" dirty="0"/>
          </a:p>
        </p:txBody>
      </p:sp>
      <p:sp>
        <p:nvSpPr>
          <p:cNvPr id="17" name="Text 15"/>
          <p:cNvSpPr/>
          <p:nvPr/>
        </p:nvSpPr>
        <p:spPr>
          <a:xfrm>
            <a:off x="4389120" y="3566160"/>
            <a:ext cx="36576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test accuracy</a:t>
            </a:r>
            <a:endParaRPr lang="en-US" sz="1100" dirty="0"/>
          </a:p>
        </p:txBody>
      </p:sp>
      <p:sp>
        <p:nvSpPr>
          <p:cNvPr id="18" name="Text 16"/>
          <p:cNvSpPr/>
          <p:nvPr/>
        </p:nvSpPr>
        <p:spPr>
          <a:xfrm>
            <a:off x="4572000" y="3931920"/>
            <a:ext cx="3291840" cy="36576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82,369 parameters</a:t>
            </a:r>
            <a:endParaRPr lang="en-US" sz="1300" dirty="0"/>
          </a:p>
        </p:txBody>
      </p:sp>
      <p:sp>
        <p:nvSpPr>
          <p:cNvPr id="19" name="Text 17"/>
          <p:cNvSpPr/>
          <p:nvPr/>
        </p:nvSpPr>
        <p:spPr>
          <a:xfrm>
            <a:off x="4572000" y="4389120"/>
            <a:ext cx="3291840" cy="1371600"/>
          </a:xfrm>
          <a:prstGeom prst="rect">
            <a:avLst/>
          </a:prstGeom>
          <a:noFill/>
          <a:ln/>
        </p:spPr>
        <p:txBody>
          <a:bodyPr wrap="square"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Sequential, dense. Learns implicit</a:t>
            </a:r>
            <a:endParaRPr lang="en-US" sz="1200" dirty="0"/>
          </a:p>
          <a:p>
            <a:pPr algn="ctr" indent="0" marL="0">
              <a:buNone/>
            </a:pPr>
            <a:r>
              <a:rPr lang="en-US" sz="1200" dirty="0">
                <a:solidFill>
                  <a:srgbClr val="212121"/>
                </a:solidFill>
                <a:latin typeface="Calibri" pitchFamily="34" charset="0"/>
                <a:ea typeface="Calibri" pitchFamily="34" charset="-122"/>
                <a:cs typeface="Calibri" pitchFamily="34" charset="-120"/>
              </a:rPr>
              <a:t>composition through recurrence.</a:t>
            </a:r>
            <a:endParaRPr lang="en-US" sz="1200" dirty="0"/>
          </a:p>
        </p:txBody>
      </p:sp>
      <p:sp>
        <p:nvSpPr>
          <p:cNvPr id="20" name="Shape 18"/>
          <p:cNvSpPr/>
          <p:nvPr/>
        </p:nvSpPr>
        <p:spPr>
          <a:xfrm>
            <a:off x="8321040" y="1554480"/>
            <a:ext cx="3657600" cy="4572000"/>
          </a:xfrm>
          <a:prstGeom prst="rect">
            <a:avLst/>
          </a:prstGeom>
          <a:solidFill>
            <a:srgbClr val="FFFFFF"/>
          </a:solidFill>
          <a:ln w="25400">
            <a:solidFill>
              <a:srgbClr val="64748B"/>
            </a:solidFill>
            <a:prstDash val="solid"/>
          </a:ln>
        </p:spPr>
      </p:sp>
      <p:sp>
        <p:nvSpPr>
          <p:cNvPr id="21" name="Shape 19"/>
          <p:cNvSpPr/>
          <p:nvPr/>
        </p:nvSpPr>
        <p:spPr>
          <a:xfrm>
            <a:off x="8321040" y="1554480"/>
            <a:ext cx="3657600" cy="731520"/>
          </a:xfrm>
          <a:prstGeom prst="rect">
            <a:avLst/>
          </a:prstGeom>
          <a:solidFill>
            <a:srgbClr val="64748B"/>
          </a:solidFill>
          <a:ln/>
        </p:spPr>
      </p:sp>
      <p:sp>
        <p:nvSpPr>
          <p:cNvPr id="22" name="Text 20"/>
          <p:cNvSpPr/>
          <p:nvPr/>
        </p:nvSpPr>
        <p:spPr>
          <a:xfrm>
            <a:off x="8503920" y="1600200"/>
            <a:ext cx="32918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LR + GloVe-50d</a:t>
            </a:r>
            <a:endParaRPr lang="en-US" sz="1600" dirty="0"/>
          </a:p>
        </p:txBody>
      </p:sp>
      <p:sp>
        <p:nvSpPr>
          <p:cNvPr id="23" name="Text 21"/>
          <p:cNvSpPr/>
          <p:nvPr/>
        </p:nvSpPr>
        <p:spPr>
          <a:xfrm>
            <a:off x="8503920" y="2011680"/>
            <a:ext cx="329184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(averaged pretrained vectors)</a:t>
            </a:r>
            <a:endParaRPr lang="en-US" sz="1000" dirty="0"/>
          </a:p>
        </p:txBody>
      </p:sp>
      <p:sp>
        <p:nvSpPr>
          <p:cNvPr id="24" name="Text 22"/>
          <p:cNvSpPr/>
          <p:nvPr/>
        </p:nvSpPr>
        <p:spPr>
          <a:xfrm>
            <a:off x="8321040" y="2468880"/>
            <a:ext cx="3657600" cy="1097280"/>
          </a:xfrm>
          <a:prstGeom prst="rect">
            <a:avLst/>
          </a:prstGeom>
          <a:noFill/>
          <a:ln/>
        </p:spPr>
        <p:txBody>
          <a:bodyPr wrap="square" lIns="0" tIns="0" rIns="0" bIns="0" rtlCol="0" anchor="ctr"/>
          <a:lstStyle/>
          <a:p>
            <a:pPr algn="ctr" indent="0" marL="0">
              <a:buNone/>
            </a:pPr>
            <a:r>
              <a:rPr lang="en-US" sz="4800" b="1" dirty="0">
                <a:solidFill>
                  <a:srgbClr val="64748B"/>
                </a:solidFill>
                <a:latin typeface="Calibri" pitchFamily="34" charset="0"/>
                <a:ea typeface="Calibri" pitchFamily="34" charset="-122"/>
                <a:cs typeface="Calibri" pitchFamily="34" charset="-120"/>
              </a:rPr>
              <a:t>84.00%</a:t>
            </a:r>
            <a:endParaRPr lang="en-US" sz="4800" dirty="0"/>
          </a:p>
        </p:txBody>
      </p:sp>
      <p:sp>
        <p:nvSpPr>
          <p:cNvPr id="25" name="Text 23"/>
          <p:cNvSpPr/>
          <p:nvPr/>
        </p:nvSpPr>
        <p:spPr>
          <a:xfrm>
            <a:off x="8321040" y="3566160"/>
            <a:ext cx="36576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test accuracy</a:t>
            </a:r>
            <a:endParaRPr lang="en-US" sz="1100" dirty="0"/>
          </a:p>
        </p:txBody>
      </p:sp>
      <p:sp>
        <p:nvSpPr>
          <p:cNvPr id="26" name="Text 24"/>
          <p:cNvSpPr/>
          <p:nvPr/>
        </p:nvSpPr>
        <p:spPr>
          <a:xfrm>
            <a:off x="8503920" y="3931920"/>
            <a:ext cx="3291840" cy="365760"/>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51 parameters</a:t>
            </a:r>
            <a:endParaRPr lang="en-US" sz="1300" dirty="0"/>
          </a:p>
        </p:txBody>
      </p:sp>
      <p:sp>
        <p:nvSpPr>
          <p:cNvPr id="27" name="Text 25"/>
          <p:cNvSpPr/>
          <p:nvPr/>
        </p:nvSpPr>
        <p:spPr>
          <a:xfrm>
            <a:off x="8503920" y="4389120"/>
            <a:ext cx="3291840" cy="1371600"/>
          </a:xfrm>
          <a:prstGeom prst="rect">
            <a:avLst/>
          </a:prstGeom>
          <a:noFill/>
          <a:ln/>
        </p:spPr>
        <p:txBody>
          <a:bodyPr wrap="square" rtlCol="0" anchor="ctr"/>
          <a:lstStyle/>
          <a:p>
            <a:pPr algn="ctr" indent="0" marL="0">
              <a:buNone/>
            </a:pPr>
            <a:r>
              <a:rPr lang="en-US" sz="1200" dirty="0">
                <a:solidFill>
                  <a:srgbClr val="212121"/>
                </a:solidFill>
                <a:latin typeface="Calibri" pitchFamily="34" charset="0"/>
                <a:ea typeface="Calibri" pitchFamily="34" charset="-122"/>
                <a:cs typeface="Calibri" pitchFamily="34" charset="-120"/>
              </a:rPr>
              <a:t>Dense, very small. No token order</a:t>
            </a:r>
            <a:endParaRPr lang="en-US" sz="1200" dirty="0"/>
          </a:p>
          <a:p>
            <a:pPr algn="ctr" indent="0" marL="0">
              <a:buNone/>
            </a:pPr>
            <a:r>
              <a:rPr lang="en-US" sz="1200" dirty="0">
                <a:solidFill>
                  <a:srgbClr val="212121"/>
                </a:solidFill>
                <a:latin typeface="Calibri" pitchFamily="34" charset="0"/>
                <a:ea typeface="Calibri" pitchFamily="34" charset="-122"/>
                <a:cs typeface="Calibri" pitchFamily="34" charset="-120"/>
              </a:rPr>
              <a:t>(mean pool destroys position).</a:t>
            </a:r>
            <a:endParaRPr lang="en-US" sz="120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29" name="Text 27"/>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Main Results: Test Accuracy</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n = 400 balanced test phrases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7955280" cy="914400"/>
        </p:xfrm>
        <a:graphic>
          <a:graphicData uri="http://schemas.openxmlformats.org/drawingml/2006/table">
            <a:tbl>
              <a:tblPr/>
              <a:tblGrid>
                <a:gridCol w="2926080"/>
                <a:gridCol w="1645920"/>
                <a:gridCol w="1645920"/>
                <a:gridCol w="1737360"/>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onsolas" pitchFamily="34" charset="0"/>
                          <a:ea typeface="Consolas" pitchFamily="34" charset="-122"/>
                          <a:cs typeface="Consolas" pitchFamily="34" charset="-120"/>
                        </a:rPr>
                        <a:t>Accuracy</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onsolas" pitchFamily="34" charset="0"/>
                          <a:ea typeface="Consolas" pitchFamily="34" charset="-122"/>
                          <a:cs typeface="Consolas" pitchFamily="34" charset="-120"/>
                        </a:rPr>
                        <a:t>Std</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onsolas" pitchFamily="34" charset="0"/>
                          <a:ea typeface="Consolas" pitchFamily="34" charset="-122"/>
                          <a:cs typeface="Consolas" pitchFamily="34" charset="-120"/>
                        </a:rPr>
                        <a:t>#Params</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E2761"/>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Majority baseline</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EEEE"/>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0.5000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EEEE"/>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EEEE"/>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EEEE"/>
                    </a:solidFill>
                  </a:tcPr>
                </a:tc>
              </a:tr>
              <a:tr h="0">
                <a:tc>
                  <a:txBody>
                    <a:bodyPr/>
                    <a:lstStyle/>
                    <a:p>
                      <a:pPr algn="l" indent="0" marL="0">
                        <a:buNone/>
                      </a:pPr>
                      <a:r>
                        <a:rPr lang="en-US" sz="1200" b="1" dirty="0">
                          <a:solidFill>
                            <a:srgbClr val="212121"/>
                          </a:solidFill>
                          <a:latin typeface="Calibri" pitchFamily="34" charset="0"/>
                          <a:ea typeface="Calibri" pitchFamily="34" charset="-122"/>
                          <a:cs typeface="Calibri" pitchFamily="34" charset="-120"/>
                        </a:rPr>
                        <a:t>LR + TF-IDF</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9E6"/>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0.9425</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9E6"/>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0.0000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9E6"/>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2,829</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9E6"/>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LR + GloVe-50d</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0.8400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0.0000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51</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BiLSTM 1L</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0.9183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0.0042</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82,369</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Q-spiders (all 6 configs)</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0.9205</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0.0064</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2,940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212121"/>
                          </a:solidFill>
                          <a:latin typeface="Calibri" pitchFamily="34" charset="0"/>
                          <a:ea typeface="Calibri" pitchFamily="34" charset="-122"/>
                          <a:cs typeface="Calibri" pitchFamily="34" charset="-120"/>
                        </a:rPr>
                        <a:t>Q-cups-IQP-L₁</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8F4F8"/>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0.8715</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8F4F8"/>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0.0165</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8F4F8"/>
                    </a:solidFill>
                  </a:tcPr>
                </a:tc>
                <a:tc>
                  <a:txBody>
                    <a:bodyPr/>
                    <a:lstStyle/>
                    <a:p>
                      <a:pPr algn="ctr" indent="0" marL="0">
                        <a:buNone/>
                      </a:pPr>
                      <a:r>
                        <a:rPr lang="en-US" sz="1200" b="1" dirty="0">
                          <a:solidFill>
                            <a:srgbClr val="212121"/>
                          </a:solidFill>
                          <a:latin typeface="Consolas" pitchFamily="34" charset="0"/>
                          <a:ea typeface="Consolas" pitchFamily="34" charset="-122"/>
                          <a:cs typeface="Consolas" pitchFamily="34" charset="-120"/>
                        </a:rPr>
                        <a:t>983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8F4F8"/>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Q-cups-IQP-L₂</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0.6280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0.0426</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1,963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Q-cups-IQP-L₃</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E5E5"/>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0.8450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E5E5"/>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0.0454</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E5E5"/>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2,943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E5E5"/>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Q-cups-Sim14-L₁</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0.9190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0.0124</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7,843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Q-cups-Sim14-L₂</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0.9185</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0.0082</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15,683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12121"/>
                          </a:solidFill>
                          <a:latin typeface="Calibri" pitchFamily="34" charset="0"/>
                          <a:ea typeface="Calibri" pitchFamily="34" charset="-122"/>
                          <a:cs typeface="Calibri" pitchFamily="34" charset="-120"/>
                        </a:rPr>
                        <a:t>Q-cups-Sim14-L₃</a:t>
                      </a: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0.9210</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0.0103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121"/>
                          </a:solidFill>
                          <a:latin typeface="Consolas" pitchFamily="34" charset="0"/>
                          <a:ea typeface="Consolas" pitchFamily="34" charset="-122"/>
                          <a:cs typeface="Consolas" pitchFamily="34" charset="-120"/>
                        </a:rPr>
                        <a:t>23,523</a:t>
                      </a:r>
                      <a:endParaRPr lang="en-US" sz="1200" dirty="0">
                        <a:latin typeface="Consolas" charset="0"/>
                        <a:ea typeface="Consolas" charset="0"/>
                        <a:cs typeface="Consolas"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Shape 2"/>
          <p:cNvSpPr/>
          <p:nvPr/>
        </p:nvSpPr>
        <p:spPr>
          <a:xfrm>
            <a:off x="8686800" y="1463040"/>
            <a:ext cx="3108960" cy="4937760"/>
          </a:xfrm>
          <a:prstGeom prst="rect">
            <a:avLst/>
          </a:prstGeom>
          <a:solidFill>
            <a:srgbClr val="1C7293"/>
          </a:solidFill>
          <a:ln/>
        </p:spPr>
      </p:sp>
      <p:sp>
        <p:nvSpPr>
          <p:cNvPr id="6" name="Text 3"/>
          <p:cNvSpPr/>
          <p:nvPr/>
        </p:nvSpPr>
        <p:spPr>
          <a:xfrm>
            <a:off x="8869680" y="1645920"/>
            <a:ext cx="2743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Takeaway</a:t>
            </a:r>
            <a:endParaRPr lang="en-US" sz="1400" dirty="0"/>
          </a:p>
        </p:txBody>
      </p:sp>
      <p:sp>
        <p:nvSpPr>
          <p:cNvPr id="7" name="Text 4"/>
          <p:cNvSpPr/>
          <p:nvPr/>
        </p:nvSpPr>
        <p:spPr>
          <a:xfrm>
            <a:off x="8869680" y="2103120"/>
            <a:ext cx="2743200" cy="3657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Quantum-Spiders</a:t>
            </a:r>
            <a:endParaRPr lang="en-US" sz="1400" dirty="0"/>
          </a:p>
        </p:txBody>
      </p:sp>
      <p:sp>
        <p:nvSpPr>
          <p:cNvPr id="8" name="Text 5"/>
          <p:cNvSpPr/>
          <p:nvPr/>
        </p:nvSpPr>
        <p:spPr>
          <a:xfrm>
            <a:off x="8869680" y="2468880"/>
            <a:ext cx="2743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ties BiLSTM</a:t>
            </a:r>
            <a:endParaRPr lang="en-US" sz="1400" dirty="0"/>
          </a:p>
        </p:txBody>
      </p:sp>
      <p:sp>
        <p:nvSpPr>
          <p:cNvPr id="9" name="Text 6"/>
          <p:cNvSpPr/>
          <p:nvPr/>
        </p:nvSpPr>
        <p:spPr>
          <a:xfrm>
            <a:off x="8869680" y="3017520"/>
            <a:ext cx="274320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28×</a:t>
            </a:r>
            <a:endParaRPr lang="en-US" sz="5600" dirty="0"/>
          </a:p>
        </p:txBody>
      </p:sp>
      <p:sp>
        <p:nvSpPr>
          <p:cNvPr id="10" name="Text 7"/>
          <p:cNvSpPr/>
          <p:nvPr/>
        </p:nvSpPr>
        <p:spPr>
          <a:xfrm>
            <a:off x="8869680" y="4023360"/>
            <a:ext cx="2743200" cy="640080"/>
          </a:xfrm>
          <a:prstGeom prst="rect">
            <a:avLst/>
          </a:prstGeom>
          <a:noFill/>
          <a:ln/>
        </p:spPr>
        <p:txBody>
          <a:bodyPr wrap="square" lIns="0" tIns="0" rIns="0" bIns="0"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fewer parameters</a:t>
            </a:r>
            <a:endParaRPr lang="en-US" sz="1200" dirty="0"/>
          </a:p>
          <a:p>
            <a:pPr algn="ctr" indent="0" marL="0">
              <a:buNone/>
            </a:pPr>
            <a:r>
              <a:rPr lang="en-US" sz="1200" i="1" dirty="0">
                <a:solidFill>
                  <a:srgbClr val="CADCFC"/>
                </a:solidFill>
                <a:latin typeface="Calibri" pitchFamily="34" charset="0"/>
                <a:ea typeface="Calibri" pitchFamily="34" charset="-122"/>
                <a:cs typeface="Calibri" pitchFamily="34" charset="-120"/>
              </a:rPr>
              <a:t>(2,940 vs 82,369)</a:t>
            </a:r>
            <a:endParaRPr lang="en-US" sz="1200" dirty="0"/>
          </a:p>
        </p:txBody>
      </p:sp>
      <p:sp>
        <p:nvSpPr>
          <p:cNvPr id="11" name="Text 8"/>
          <p:cNvSpPr/>
          <p:nvPr/>
        </p:nvSpPr>
        <p:spPr>
          <a:xfrm>
            <a:off x="8869680" y="4846320"/>
            <a:ext cx="27432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Gap to LR + TF-IDF: only 2.2 pts</a:t>
            </a:r>
            <a:endParaRPr lang="en-US" sz="1200" dirty="0"/>
          </a:p>
        </p:txBody>
      </p:sp>
      <p:sp>
        <p:nvSpPr>
          <p:cNvPr id="12" name="Text 9"/>
          <p:cNvSpPr/>
          <p:nvPr/>
        </p:nvSpPr>
        <p:spPr>
          <a:xfrm>
            <a:off x="8869680" y="5486400"/>
            <a:ext cx="2743200" cy="36576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Cups + IQP at L=2: barren plateau</a:t>
            </a:r>
            <a:endParaRPr lang="en-US" sz="1100" dirty="0"/>
          </a:p>
        </p:txBody>
      </p:sp>
      <p:sp>
        <p:nvSpPr>
          <p:cNvPr id="13"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4" name="Text 11"/>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Parameter Efficiency</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Where does each model sit on the size–accuracy plane?</a:t>
            </a:r>
            <a:endParaRPr lang="en-US" sz="1400" dirty="0"/>
          </a:p>
        </p:txBody>
      </p:sp>
      <p:pic>
        <p:nvPicPr>
          <p:cNvPr id="4" name="Image 0" descr="/Users/linhdo/Documents/HUB/NCS/DH Mở/3. NLP/quantum_project/report/figures/03_param_efficiency.png">    </p:cNvPr>
          <p:cNvPicPr>
            <a:picLocks noChangeAspect="1"/>
          </p:cNvPicPr>
          <p:nvPr/>
        </p:nvPicPr>
        <p:blipFill>
          <a:blip r:embed="rId1"/>
          <a:srcRect l="0" r="0" t="0" b="0"/>
          <a:stretch/>
        </p:blipFill>
        <p:spPr>
          <a:xfrm>
            <a:off x="457200" y="1371600"/>
            <a:ext cx="7772400" cy="4754880"/>
          </a:xfrm>
          <a:prstGeom prst="rect">
            <a:avLst/>
          </a:prstGeom>
        </p:spPr>
      </p:pic>
      <p:sp>
        <p:nvSpPr>
          <p:cNvPr id="5" name="Shape 2"/>
          <p:cNvSpPr/>
          <p:nvPr/>
        </p:nvSpPr>
        <p:spPr>
          <a:xfrm>
            <a:off x="8503920" y="1371600"/>
            <a:ext cx="3291840" cy="4754880"/>
          </a:xfrm>
          <a:prstGeom prst="rect">
            <a:avLst/>
          </a:prstGeom>
          <a:solidFill>
            <a:srgbClr val="F1F5F9"/>
          </a:solidFill>
          <a:ln/>
        </p:spPr>
      </p:sp>
      <p:sp>
        <p:nvSpPr>
          <p:cNvPr id="6" name="Text 3"/>
          <p:cNvSpPr/>
          <p:nvPr/>
        </p:nvSpPr>
        <p:spPr>
          <a:xfrm>
            <a:off x="8686800" y="150876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Reading the plot</a:t>
            </a:r>
            <a:endParaRPr lang="en-US" sz="1300" dirty="0"/>
          </a:p>
        </p:txBody>
      </p:sp>
      <p:sp>
        <p:nvSpPr>
          <p:cNvPr id="7" name="Text 4"/>
          <p:cNvSpPr/>
          <p:nvPr/>
        </p:nvSpPr>
        <p:spPr>
          <a:xfrm>
            <a:off x="8686800" y="1920240"/>
            <a:ext cx="2926080" cy="4114800"/>
          </a:xfrm>
          <a:prstGeom prst="rect">
            <a:avLst/>
          </a:prstGeom>
          <a:noFill/>
          <a:ln/>
        </p:spPr>
        <p:txBody>
          <a:bodyPr wrap="square" rtlCol="0" anchor="ctr"/>
          <a:lstStyle/>
          <a:p>
            <a:pPr indent="0" marL="0">
              <a:spcAft>
                <a:spcPts val="300"/>
              </a:spcAft>
              <a:buNone/>
            </a:pPr>
            <a:r>
              <a:rPr lang="en-US" sz="1100" dirty="0">
                <a:solidFill>
                  <a:srgbClr val="212121"/>
                </a:solidFill>
                <a:latin typeface="Calibri" pitchFamily="34" charset="0"/>
                <a:ea typeface="Calibri" pitchFamily="34" charset="-122"/>
                <a:cs typeface="Calibri" pitchFamily="34" charset="-120"/>
              </a:rPr>
              <a:t>Up and to the left is good — high accuracy with fewer parameters.</a:t>
            </a:r>
            <a:endParaRPr lang="en-US" sz="1100" dirty="0"/>
          </a:p>
          <a:p>
            <a:pPr indent="0" marL="0">
              <a:spcAft>
                <a:spcPts val="300"/>
              </a:spcAft>
              <a:buNone/>
            </a:pPr>
            <a:r>
              <a:rPr lang="en-US" sz="1100" dirty="0">
                <a:solidFill>
                  <a:srgbClr val="212121"/>
                </a:solidFill>
                <a:latin typeface="Calibri" pitchFamily="34" charset="0"/>
                <a:ea typeface="Calibri" pitchFamily="34" charset="-122"/>
                <a:cs typeface="Calibri" pitchFamily="34" charset="-120"/>
              </a:rPr>
              <a:t> </a:t>
            </a:r>
            <a:endParaRPr lang="en-US" sz="1100" dirty="0"/>
          </a:p>
          <a:p>
            <a:pPr indent="0" marL="0">
              <a:spcAft>
                <a:spcPts val="300"/>
              </a:spcAft>
              <a:buNone/>
            </a:pPr>
            <a:r>
              <a:rPr lang="en-US" sz="1100" dirty="0">
                <a:solidFill>
                  <a:srgbClr val="212121"/>
                </a:solidFill>
                <a:latin typeface="Calibri" pitchFamily="34" charset="0"/>
                <a:ea typeface="Calibri" pitchFamily="34" charset="-122"/>
                <a:cs typeface="Calibri" pitchFamily="34" charset="-120"/>
              </a:rPr>
              <a:t>Q-spiders (red triangle) and BiLSTM sit at the same height (~0.92), but Q-spiders is two orders of magnitude smaller in width.</a:t>
            </a:r>
            <a:endParaRPr lang="en-US" sz="1100" dirty="0"/>
          </a:p>
          <a:p>
            <a:pPr indent="0" marL="0">
              <a:spcAft>
                <a:spcPts val="300"/>
              </a:spcAft>
              <a:buNone/>
            </a:pPr>
            <a:r>
              <a:rPr lang="en-US" sz="1100" dirty="0">
                <a:solidFill>
                  <a:srgbClr val="212121"/>
                </a:solidFill>
                <a:latin typeface="Calibri" pitchFamily="34" charset="0"/>
                <a:ea typeface="Calibri" pitchFamily="34" charset="-122"/>
                <a:cs typeface="Calibri" pitchFamily="34" charset="-120"/>
              </a:rPr>
              <a:t> </a:t>
            </a:r>
            <a:endParaRPr lang="en-US" sz="1100" dirty="0"/>
          </a:p>
          <a:p>
            <a:pPr indent="0" marL="0">
              <a:spcAft>
                <a:spcPts val="300"/>
              </a:spcAft>
              <a:buNone/>
            </a:pPr>
            <a:r>
              <a:rPr lang="en-US" sz="1100" dirty="0">
                <a:solidFill>
                  <a:srgbClr val="212121"/>
                </a:solidFill>
                <a:latin typeface="Calibri" pitchFamily="34" charset="0"/>
                <a:ea typeface="Calibri" pitchFamily="34" charset="-122"/>
                <a:cs typeface="Calibri" pitchFamily="34" charset="-120"/>
              </a:rPr>
              <a:t>LR + GloVe is the most extreme compactness point at 51 parameters, but accuracy is 8 points lower.</a:t>
            </a:r>
            <a:endParaRPr lang="en-US" sz="1100" dirty="0"/>
          </a:p>
        </p:txBody>
      </p:sp>
      <p:sp>
        <p:nvSpPr>
          <p:cNvPr id="8"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9" name="Text 6"/>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Finding 1: Spider Saturation</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Why all six Spiders configurations are bit-identical</a:t>
            </a:r>
            <a:endParaRPr lang="en-US" sz="1400" dirty="0"/>
          </a:p>
        </p:txBody>
      </p:sp>
      <p:sp>
        <p:nvSpPr>
          <p:cNvPr id="4" name="Text 2"/>
          <p:cNvSpPr/>
          <p:nvPr/>
        </p:nvSpPr>
        <p:spPr>
          <a:xfrm>
            <a:off x="548640" y="1554480"/>
            <a:ext cx="5486400" cy="365760"/>
          </a:xfrm>
          <a:prstGeom prst="rect">
            <a:avLst/>
          </a:prstGeom>
          <a:noFill/>
          <a:ln/>
        </p:spPr>
        <p:txBody>
          <a:bodyPr wrap="square" lIns="0" tIns="0" rIns="0" bIns="0" rtlCol="0" anchor="ctr"/>
          <a:lstStyle/>
          <a:p>
            <a:pPr indent="0" marL="0">
              <a:buNone/>
            </a:pPr>
            <a:r>
              <a:rPr lang="en-US" sz="1700" b="1" dirty="0">
                <a:solidFill>
                  <a:srgbClr val="1C7293"/>
                </a:solidFill>
                <a:latin typeface="Calibri" pitchFamily="34" charset="0"/>
                <a:ea typeface="Calibri" pitchFamily="34" charset="-122"/>
                <a:cs typeface="Calibri" pitchFamily="34" charset="-120"/>
              </a:rPr>
              <a:t>Observation</a:t>
            </a:r>
            <a:endParaRPr lang="en-US" sz="1700" dirty="0"/>
          </a:p>
        </p:txBody>
      </p:sp>
      <p:sp>
        <p:nvSpPr>
          <p:cNvPr id="5" name="Text 3"/>
          <p:cNvSpPr/>
          <p:nvPr/>
        </p:nvSpPr>
        <p:spPr>
          <a:xfrm>
            <a:off x="548640" y="1920240"/>
            <a:ext cx="5943600" cy="1828800"/>
          </a:xfrm>
          <a:prstGeom prst="rect">
            <a:avLst/>
          </a:prstGeom>
          <a:noFill/>
          <a:ln/>
        </p:spPr>
        <p:txBody>
          <a:bodyPr wrap="square" rtlCol="0" anchor="ctr"/>
          <a:lstStyle/>
          <a:p>
            <a:pPr marL="342900" indent="-342900">
              <a:spcAft>
                <a:spcPts val="300"/>
              </a:spcAft>
              <a:buSzPct val="100000"/>
              <a:buChar char="•"/>
            </a:pPr>
            <a:r>
              <a:rPr lang="en-US" sz="1300" dirty="0">
                <a:solidFill>
                  <a:srgbClr val="212121"/>
                </a:solidFill>
                <a:latin typeface="Calibri" pitchFamily="34" charset="0"/>
                <a:ea typeface="Calibri" pitchFamily="34" charset="-122"/>
                <a:cs typeface="Calibri" pitchFamily="34" charset="-120"/>
              </a:rPr>
              <a:t>Spiders + qN = qS = 1 produces single-qubit boxes for every word</a:t>
            </a:r>
            <a:endParaRPr lang="en-US" sz="1300" dirty="0"/>
          </a:p>
          <a:p>
            <a:pPr marL="342900" indent="-342900">
              <a:spcAft>
                <a:spcPts val="300"/>
              </a:spcAft>
              <a:buSzPct val="100000"/>
              <a:buChar char="•"/>
            </a:pPr>
            <a:r>
              <a:rPr lang="en-US" sz="1300" dirty="0">
                <a:solidFill>
                  <a:srgbClr val="212121"/>
                </a:solidFill>
                <a:latin typeface="Calibri" pitchFamily="34" charset="0"/>
                <a:ea typeface="Calibri" pitchFamily="34" charset="-122"/>
                <a:cs typeface="Calibri" pitchFamily="34" charset="-120"/>
              </a:rPr>
              <a:t>Any single-qubit ansatz has at most 3 free parameters per box</a:t>
            </a:r>
            <a:endParaRPr lang="en-US" sz="1300" dirty="0"/>
          </a:p>
          <a:p>
            <a:pPr marL="342900" indent="-342900">
              <a:spcAft>
                <a:spcPts val="300"/>
              </a:spcAft>
              <a:buSzPct val="100000"/>
              <a:buChar char="•"/>
            </a:pPr>
            <a:r>
              <a:rPr lang="en-US" sz="1300" dirty="0">
                <a:solidFill>
                  <a:srgbClr val="212121"/>
                </a:solidFill>
                <a:latin typeface="Calibri" pitchFamily="34" charset="0"/>
                <a:ea typeface="Calibri" pitchFamily="34" charset="-122"/>
                <a:cs typeface="Calibri" pitchFamily="34" charset="-120"/>
              </a:rPr>
              <a:t>The composition of single-qubit unitaries is itself a single-qubit unitary</a:t>
            </a:r>
            <a:endParaRPr lang="en-US" sz="1300" dirty="0"/>
          </a:p>
        </p:txBody>
      </p:sp>
      <p:sp>
        <p:nvSpPr>
          <p:cNvPr id="6" name="Text 4"/>
          <p:cNvSpPr/>
          <p:nvPr/>
        </p:nvSpPr>
        <p:spPr>
          <a:xfrm>
            <a:off x="548640" y="3840480"/>
            <a:ext cx="5943600" cy="36576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Consequence (verified empirically)</a:t>
            </a:r>
            <a:endParaRPr lang="en-US" sz="1400" dirty="0"/>
          </a:p>
        </p:txBody>
      </p:sp>
      <p:sp>
        <p:nvSpPr>
          <p:cNvPr id="7" name="Text 5"/>
          <p:cNvSpPr/>
          <p:nvPr/>
        </p:nvSpPr>
        <p:spPr>
          <a:xfrm>
            <a:off x="548640" y="4206240"/>
            <a:ext cx="5943600" cy="1371600"/>
          </a:xfrm>
          <a:prstGeom prst="rect">
            <a:avLst/>
          </a:prstGeom>
          <a:noFill/>
          <a:ln/>
        </p:spPr>
        <p:txBody>
          <a:bodyPr wrap="square" rtlCol="0" anchor="ctr"/>
          <a:lstStyle/>
          <a:p>
            <a:pPr indent="0" marL="0">
              <a:buNone/>
            </a:pPr>
            <a:r>
              <a:rPr lang="en-US" sz="1300" i="1" dirty="0">
                <a:solidFill>
                  <a:srgbClr val="212121"/>
                </a:solidFill>
                <a:latin typeface="Calibri" pitchFamily="34" charset="0"/>
                <a:ea typeface="Calibri" pitchFamily="34" charset="-122"/>
                <a:cs typeface="Calibri" pitchFamily="34" charset="-120"/>
              </a:rPr>
              <a:t>All 6 Spiders configurations (IQP / Sim14 × L=1,2,3) record identical 92.05% accuracy and identical 2,940 trainable parameters — no statistically significant difference across seeds.</a:t>
            </a:r>
            <a:endParaRPr lang="en-US" sz="1300" dirty="0"/>
          </a:p>
        </p:txBody>
      </p:sp>
      <p:pic>
        <p:nvPicPr>
          <p:cNvPr id="8" name="Image 0" descr="/Users/linhdo/Documents/HUB/NCS/DH Mở/3. NLP/quantum_project/report/figures/08_seed_consistency.png">    </p:cNvPr>
          <p:cNvPicPr>
            <a:picLocks noChangeAspect="1"/>
          </p:cNvPicPr>
          <p:nvPr/>
        </p:nvPicPr>
        <p:blipFill>
          <a:blip r:embed="rId1"/>
          <a:srcRect l="0" r="0" t="0" b="0"/>
          <a:stretch/>
        </p:blipFill>
        <p:spPr>
          <a:xfrm>
            <a:off x="6858000" y="1554480"/>
            <a:ext cx="5029200" cy="4114800"/>
          </a:xfrm>
          <a:prstGeom prst="rect">
            <a:avLst/>
          </a:prstGeom>
        </p:spPr>
      </p:pic>
      <p:sp>
        <p:nvSpPr>
          <p:cNvPr id="9" name="Text 6"/>
          <p:cNvSpPr/>
          <p:nvPr/>
        </p:nvSpPr>
        <p:spPr>
          <a:xfrm>
            <a:off x="6858000" y="5669280"/>
            <a:ext cx="502920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(All Spiders bars at identical height)</a:t>
            </a:r>
            <a:endParaRPr lang="en-US" sz="1000" dirty="0"/>
          </a:p>
        </p:txBody>
      </p:sp>
      <p:sp>
        <p:nvSpPr>
          <p:cNvPr id="10"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11" name="Text 8"/>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Finding 2: Cups + IQP Barren Plateau at L = 2</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Even with LR-scheduling and gradient clipping</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858000" cy="914400"/>
        </p:xfrm>
        <a:graphic>
          <a:graphicData uri="http://schemas.openxmlformats.org/drawingml/2006/table">
            <a:tbl>
              <a:tblPr/>
              <a:tblGrid>
                <a:gridCol w="2468880"/>
                <a:gridCol w="1463040"/>
                <a:gridCol w="1463040"/>
                <a:gridCol w="1463040"/>
              </a:tblGrid>
              <a:tr h="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Configuration</a:t>
                      </a:r>
                      <a:endParaRPr lang="en-US" sz="1400" dirty="0">
                        <a:latin typeface="Calibri" charset="0"/>
                        <a:ea typeface="Calibri" charset="0"/>
                        <a:cs typeface="Calibri"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L₁</a:t>
                      </a:r>
                      <a:endParaRPr lang="en-US" sz="1400" dirty="0">
                        <a:latin typeface="Calibri" charset="0"/>
                        <a:ea typeface="Calibri" charset="0"/>
                        <a:cs typeface="Calibri"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L₂</a:t>
                      </a:r>
                      <a:endParaRPr lang="en-US" sz="1400" dirty="0">
                        <a:latin typeface="Calibri" charset="0"/>
                        <a:ea typeface="Calibri" charset="0"/>
                        <a:cs typeface="Calibri"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L₃</a:t>
                      </a:r>
                      <a:endParaRPr lang="en-US" sz="1400" dirty="0">
                        <a:latin typeface="Calibri" charset="0"/>
                        <a:ea typeface="Calibri" charset="0"/>
                        <a:cs typeface="Calibri"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1E2761"/>
                    </a:solidFill>
                  </a:tcPr>
                </a:tc>
              </a:tr>
              <a:tr h="0">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Q-cups-IQP</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0.872</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F96167"/>
                          </a:solidFill>
                          <a:latin typeface="Consolas" pitchFamily="34" charset="0"/>
                          <a:ea typeface="Consolas" pitchFamily="34" charset="-122"/>
                          <a:cs typeface="Consolas" pitchFamily="34" charset="-120"/>
                        </a:rPr>
                        <a:t>0.628 (chance)</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0.845</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Q-cups-Sim14</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0.919</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0.918</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12121"/>
                          </a:solidFill>
                          <a:latin typeface="Consolas" pitchFamily="34" charset="0"/>
                          <a:ea typeface="Consolas" pitchFamily="34" charset="-122"/>
                          <a:cs typeface="Consolas" pitchFamily="34" charset="-120"/>
                        </a:rPr>
                        <a:t>0.921</a:t>
                      </a:r>
                      <a:endParaRPr lang="en-US" sz="1400" dirty="0">
                        <a:latin typeface="Consolas" charset="0"/>
                        <a:ea typeface="Consolas" charset="0"/>
                        <a:cs typeface="Consolas" charset="0"/>
                      </a:endParaRPr>
                    </a:p>
                  </a:txBody>
                  <a:tcPr marL="91440" marR="91440" marT="45720" marB="45720">
                    <a:lnL w="5080" cap="flat" cmpd="sng" algn="ctr">
                      <a:solidFill>
                        <a:srgbClr val="BBBBBB"/>
                      </a:solidFill>
                      <a:prstDash val="solid"/>
                      <a:round/>
                      <a:headEnd type="none" w="med" len="med"/>
                      <a:tailEnd type="none" w="med" len="med"/>
                    </a:lnL>
                    <a:lnR w="5080" cap="flat" cmpd="sng" algn="ctr">
                      <a:solidFill>
                        <a:srgbClr val="BBBBBB"/>
                      </a:solidFill>
                      <a:prstDash val="solid"/>
                      <a:round/>
                      <a:headEnd type="none" w="med" len="med"/>
                      <a:tailEnd type="none" w="med" len="med"/>
                    </a:lnR>
                    <a:lnT w="5080" cap="flat" cmpd="sng" algn="ctr">
                      <a:solidFill>
                        <a:srgbClr val="BBBBBB"/>
                      </a:solidFill>
                      <a:prstDash val="solid"/>
                      <a:round/>
                      <a:headEnd type="none" w="med" len="med"/>
                      <a:tailEnd type="none" w="med" len="med"/>
                    </a:lnT>
                    <a:lnB w="5080" cap="flat" cmpd="sng" algn="ctr">
                      <a:solidFill>
                        <a:srgbClr val="BBBBBB"/>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200400"/>
            <a:ext cx="6858000" cy="36576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Interpretation</a:t>
            </a:r>
            <a:endParaRPr lang="en-US" sz="1600" dirty="0"/>
          </a:p>
        </p:txBody>
      </p:sp>
      <p:sp>
        <p:nvSpPr>
          <p:cNvPr id="6" name="Text 3"/>
          <p:cNvSpPr/>
          <p:nvPr/>
        </p:nvSpPr>
        <p:spPr>
          <a:xfrm>
            <a:off x="548640" y="3566160"/>
            <a:ext cx="6858000" cy="2743200"/>
          </a:xfrm>
          <a:prstGeom prst="rect">
            <a:avLst/>
          </a:prstGeom>
          <a:noFill/>
          <a:ln/>
        </p:spPr>
        <p:txBody>
          <a:bodyPr wrap="square" rtlCol="0" anchor="ctr"/>
          <a:lstStyle/>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All five seeds at IQP L₂ converge to ~0.628 with low variance (σ = 0.043)</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McNemar test against L₁ and L₃: p &lt; 10⁻¹⁵ (highly significant)</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L₁ vs L₃: not significantly different (p = 0.79) — IQP recovers at deeper L</a:t>
            </a:r>
            <a:endParaRPr lang="en-US" sz="1300" dirty="0"/>
          </a:p>
          <a:p>
            <a:pPr marL="342900" indent="-342900">
              <a:spcAft>
                <a:spcPts val="400"/>
              </a:spcAft>
              <a:buSzPct val="100000"/>
              <a:buChar char="•"/>
            </a:pPr>
            <a:r>
              <a:rPr lang="en-US" sz="1300" dirty="0">
                <a:solidFill>
                  <a:srgbClr val="212121"/>
                </a:solidFill>
                <a:latin typeface="Calibri" pitchFamily="34" charset="0"/>
                <a:ea typeface="Calibri" pitchFamily="34" charset="-122"/>
                <a:cs typeface="Calibri" pitchFamily="34" charset="-120"/>
              </a:rPr>
              <a:t>Sim14 is stable across all three depths — ansatz topology matters</a:t>
            </a:r>
            <a:endParaRPr lang="en-US" sz="1300" dirty="0"/>
          </a:p>
        </p:txBody>
      </p:sp>
      <p:pic>
        <p:nvPicPr>
          <p:cNvPr id="7" name="Image 0" descr="/Users/linhdo/Documents/HUB/NCS/DH Mở/3. NLP/quantum_project/report/figures/06_quantum_layers_ablation.png">    </p:cNvPr>
          <p:cNvPicPr>
            <a:picLocks noChangeAspect="1"/>
          </p:cNvPicPr>
          <p:nvPr/>
        </p:nvPicPr>
        <p:blipFill>
          <a:blip r:embed="rId1"/>
          <a:srcRect l="0" r="0" t="0" b="0"/>
          <a:stretch/>
        </p:blipFill>
        <p:spPr>
          <a:xfrm>
            <a:off x="7589520" y="1554480"/>
            <a:ext cx="4297680" cy="4114800"/>
          </a:xfrm>
          <a:prstGeom prst="rect">
            <a:avLst/>
          </a:prstGeom>
        </p:spPr>
      </p:pic>
      <p:sp>
        <p:nvSpPr>
          <p:cNvPr id="8" name="Text 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9" name="Text 5"/>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All Models Side by Side</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Sixteen rows, one balanced test set</a:t>
            </a:r>
            <a:endParaRPr lang="en-US" sz="1400" dirty="0"/>
          </a:p>
        </p:txBody>
      </p:sp>
      <p:pic>
        <p:nvPicPr>
          <p:cNvPr id="4" name="Image 0" descr="/Users/linhdo/Documents/HUB/NCS/DH Mở/3. NLP/quantum_project/report/figures/01_accuracy_comparison.png">    </p:cNvPr>
          <p:cNvPicPr>
            <a:picLocks noChangeAspect="1"/>
          </p:cNvPicPr>
          <p:nvPr/>
        </p:nvPicPr>
        <p:blipFill>
          <a:blip r:embed="rId1"/>
          <a:srcRect l="0" r="0" t="0" b="0"/>
          <a:stretch/>
        </p:blipFill>
        <p:spPr>
          <a:xfrm>
            <a:off x="548640" y="1371600"/>
            <a:ext cx="10972800" cy="4937760"/>
          </a:xfrm>
          <a:prstGeom prst="rect">
            <a:avLst/>
          </a:prstGeom>
        </p:spPr>
      </p:pic>
      <p:sp>
        <p:nvSpPr>
          <p:cNvPr id="5" name="Text 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6" name="Text 3"/>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Error Analysis</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Per-length and negation handling</a:t>
            </a:r>
            <a:endParaRPr lang="en-US" sz="1400" dirty="0"/>
          </a:p>
        </p:txBody>
      </p:sp>
      <p:sp>
        <p:nvSpPr>
          <p:cNvPr id="4" name="Text 2"/>
          <p:cNvSpPr/>
          <p:nvPr/>
        </p:nvSpPr>
        <p:spPr>
          <a:xfrm>
            <a:off x="548640" y="1463040"/>
            <a:ext cx="5303520" cy="36576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Per-length accuracy</a:t>
            </a:r>
            <a:endParaRPr lang="en-US" sz="1500" dirty="0"/>
          </a:p>
        </p:txBody>
      </p:sp>
      <p:pic>
        <p:nvPicPr>
          <p:cNvPr id="5" name="Image 0" descr="/Users/linhdo/Documents/HUB/NCS/DH Mở/3. NLP/quantum_project/report/figures/07_per_length_heatmap.png">    </p:cNvPr>
          <p:cNvPicPr>
            <a:picLocks noChangeAspect="1"/>
          </p:cNvPicPr>
          <p:nvPr/>
        </p:nvPicPr>
        <p:blipFill>
          <a:blip r:embed="rId1"/>
          <a:srcRect l="0" r="0" t="0" b="0"/>
          <a:stretch/>
        </p:blipFill>
        <p:spPr>
          <a:xfrm>
            <a:off x="365760" y="1874520"/>
            <a:ext cx="5852160" cy="4572000"/>
          </a:xfrm>
          <a:prstGeom prst="rect">
            <a:avLst/>
          </a:prstGeom>
        </p:spPr>
      </p:pic>
      <p:sp>
        <p:nvSpPr>
          <p:cNvPr id="6" name="Text 3"/>
          <p:cNvSpPr/>
          <p:nvPr/>
        </p:nvSpPr>
        <p:spPr>
          <a:xfrm>
            <a:off x="6400800" y="1463040"/>
            <a:ext cx="5303520" cy="365760"/>
          </a:xfrm>
          <a:prstGeom prst="rect">
            <a:avLst/>
          </a:prstGeom>
          <a:noFill/>
          <a:ln/>
        </p:spPr>
        <p:txBody>
          <a:bodyPr wrap="square" lIns="0" tIns="0" rIns="0" bIns="0" rtlCol="0" anchor="ctr"/>
          <a:lstStyle/>
          <a:p>
            <a:pPr indent="0" marL="0">
              <a:buNone/>
            </a:pPr>
            <a:r>
              <a:rPr lang="en-US" sz="1500" b="1" dirty="0">
                <a:solidFill>
                  <a:srgbClr val="F96167"/>
                </a:solidFill>
                <a:latin typeface="Calibri" pitchFamily="34" charset="0"/>
                <a:ea typeface="Calibri" pitchFamily="34" charset="-122"/>
                <a:cs typeface="Calibri" pitchFamily="34" charset="-120"/>
              </a:rPr>
              <a:t>Negation handling</a:t>
            </a:r>
            <a:endParaRPr lang="en-US" sz="1500" dirty="0"/>
          </a:p>
        </p:txBody>
      </p:sp>
      <p:pic>
        <p:nvPicPr>
          <p:cNvPr id="7" name="Image 1" descr="/Users/linhdo/Documents/HUB/NCS/DH Mở/3. NLP/quantum_project/report/figures/09_negation_handling.png">    </p:cNvPr>
          <p:cNvPicPr>
            <a:picLocks noChangeAspect="1"/>
          </p:cNvPicPr>
          <p:nvPr/>
        </p:nvPicPr>
        <p:blipFill>
          <a:blip r:embed="rId2"/>
          <a:srcRect l="0" r="0" t="0" b="0"/>
          <a:stretch/>
        </p:blipFill>
        <p:spPr>
          <a:xfrm>
            <a:off x="6217920" y="1874520"/>
            <a:ext cx="5852160" cy="4572000"/>
          </a:xfrm>
          <a:prstGeom prst="rect">
            <a:avLst/>
          </a:prstGeom>
        </p:spPr>
      </p:pic>
      <p:sp>
        <p:nvSpPr>
          <p:cNvPr id="8" name="Text 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9" name="Text 5"/>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Limitations &amp; Honest Caveats</a:t>
            </a:r>
            <a:endParaRPr lang="en-US" sz="2800" dirty="0"/>
          </a:p>
        </p:txBody>
      </p:sp>
      <p:sp>
        <p:nvSpPr>
          <p:cNvPr id="3" name="Text 1"/>
          <p:cNvSpPr/>
          <p:nvPr/>
        </p:nvSpPr>
        <p:spPr>
          <a:xfrm>
            <a:off x="457200" y="914400"/>
            <a:ext cx="11247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this study does not show</a:t>
            </a:r>
            <a:endParaRPr lang="en-US" sz="1400" dirty="0"/>
          </a:p>
        </p:txBody>
      </p:sp>
      <p:sp>
        <p:nvSpPr>
          <p:cNvPr id="4" name="Shape 2"/>
          <p:cNvSpPr/>
          <p:nvPr/>
        </p:nvSpPr>
        <p:spPr>
          <a:xfrm>
            <a:off x="457200" y="1554480"/>
            <a:ext cx="640080" cy="640080"/>
          </a:xfrm>
          <a:prstGeom prst="ellipse">
            <a:avLst/>
          </a:prstGeom>
          <a:solidFill>
            <a:srgbClr val="1E2761"/>
          </a:solidFill>
          <a:ln/>
        </p:spPr>
      </p:sp>
      <p:sp>
        <p:nvSpPr>
          <p:cNvPr id="5" name="Text 3"/>
          <p:cNvSpPr/>
          <p:nvPr/>
        </p:nvSpPr>
        <p:spPr>
          <a:xfrm>
            <a:off x="457200" y="155448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6" name="Text 4"/>
          <p:cNvSpPr/>
          <p:nvPr/>
        </p:nvSpPr>
        <p:spPr>
          <a:xfrm>
            <a:off x="1280160" y="1554480"/>
            <a:ext cx="10515600" cy="32004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Phrase length ≤ 5</a:t>
            </a:r>
            <a:endParaRPr lang="en-US" sz="1500" dirty="0"/>
          </a:p>
        </p:txBody>
      </p:sp>
      <p:sp>
        <p:nvSpPr>
          <p:cNvPr id="7" name="Text 5"/>
          <p:cNvSpPr/>
          <p:nvPr/>
        </p:nvSpPr>
        <p:spPr>
          <a:xfrm>
            <a:off x="1280160" y="1874520"/>
            <a:ext cx="10515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Longer texts need either a faster simulator or real NISQ hardware.</a:t>
            </a:r>
            <a:endParaRPr lang="en-US" sz="1200" dirty="0"/>
          </a:p>
        </p:txBody>
      </p:sp>
      <p:sp>
        <p:nvSpPr>
          <p:cNvPr id="8" name="Shape 6"/>
          <p:cNvSpPr/>
          <p:nvPr/>
        </p:nvSpPr>
        <p:spPr>
          <a:xfrm>
            <a:off x="457200" y="2468880"/>
            <a:ext cx="640080" cy="640080"/>
          </a:xfrm>
          <a:prstGeom prst="ellipse">
            <a:avLst/>
          </a:prstGeom>
          <a:solidFill>
            <a:srgbClr val="1E2761"/>
          </a:solidFill>
          <a:ln/>
        </p:spPr>
      </p:sp>
      <p:sp>
        <p:nvSpPr>
          <p:cNvPr id="9" name="Text 7"/>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10" name="Text 8"/>
          <p:cNvSpPr/>
          <p:nvPr/>
        </p:nvSpPr>
        <p:spPr>
          <a:xfrm>
            <a:off x="1280160" y="2468880"/>
            <a:ext cx="10515600" cy="32004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Vocabulary capped at 1,000</a:t>
            </a:r>
            <a:endParaRPr lang="en-US" sz="1500" dirty="0"/>
          </a:p>
        </p:txBody>
      </p:sp>
      <p:sp>
        <p:nvSpPr>
          <p:cNvPr id="11" name="Text 9"/>
          <p:cNvSpPr/>
          <p:nvPr/>
        </p:nvSpPr>
        <p:spPr>
          <a:xfrm>
            <a:off x="1280160" y="2788920"/>
            <a:ext cx="10515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Phrases with rarer tokens are filtered out; corpus is skewed toward frequent words.</a:t>
            </a:r>
            <a:endParaRPr lang="en-US" sz="1200" dirty="0"/>
          </a:p>
        </p:txBody>
      </p:sp>
      <p:sp>
        <p:nvSpPr>
          <p:cNvPr id="12" name="Shape 10"/>
          <p:cNvSpPr/>
          <p:nvPr/>
        </p:nvSpPr>
        <p:spPr>
          <a:xfrm>
            <a:off x="457200" y="3383280"/>
            <a:ext cx="640080" cy="640080"/>
          </a:xfrm>
          <a:prstGeom prst="ellipse">
            <a:avLst/>
          </a:prstGeom>
          <a:solidFill>
            <a:srgbClr val="1E2761"/>
          </a:solidFill>
          <a:ln/>
        </p:spPr>
      </p:sp>
      <p:sp>
        <p:nvSpPr>
          <p:cNvPr id="13" name="Text 11"/>
          <p:cNvSpPr/>
          <p:nvPr/>
        </p:nvSpPr>
        <p:spPr>
          <a:xfrm>
            <a:off x="457200" y="338328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14" name="Text 12"/>
          <p:cNvSpPr/>
          <p:nvPr/>
        </p:nvSpPr>
        <p:spPr>
          <a:xfrm>
            <a:off x="1280160" y="3383280"/>
            <a:ext cx="10515600" cy="32004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Noiseless simulator only</a:t>
            </a:r>
            <a:endParaRPr lang="en-US" sz="1500" dirty="0"/>
          </a:p>
        </p:txBody>
      </p:sp>
      <p:sp>
        <p:nvSpPr>
          <p:cNvPr id="15" name="Text 13"/>
          <p:cNvSpPr/>
          <p:nvPr/>
        </p:nvSpPr>
        <p:spPr>
          <a:xfrm>
            <a:off x="1280160" y="3703320"/>
            <a:ext cx="10515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All experiments use lightning.qubit. Transfer to real noisy hardware is an open question.</a:t>
            </a:r>
            <a:endParaRPr lang="en-US" sz="1200" dirty="0"/>
          </a:p>
        </p:txBody>
      </p:sp>
      <p:sp>
        <p:nvSpPr>
          <p:cNvPr id="16" name="Shape 14"/>
          <p:cNvSpPr/>
          <p:nvPr/>
        </p:nvSpPr>
        <p:spPr>
          <a:xfrm>
            <a:off x="457200" y="4297680"/>
            <a:ext cx="640080" cy="640080"/>
          </a:xfrm>
          <a:prstGeom prst="ellipse">
            <a:avLst/>
          </a:prstGeom>
          <a:solidFill>
            <a:srgbClr val="1E2761"/>
          </a:solidFill>
          <a:ln/>
        </p:spPr>
      </p:sp>
      <p:sp>
        <p:nvSpPr>
          <p:cNvPr id="17" name="Text 15"/>
          <p:cNvSpPr/>
          <p:nvPr/>
        </p:nvSpPr>
        <p:spPr>
          <a:xfrm>
            <a:off x="457200" y="429768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18" name="Text 16"/>
          <p:cNvSpPr/>
          <p:nvPr/>
        </p:nvSpPr>
        <p:spPr>
          <a:xfrm>
            <a:off x="1280160" y="4297680"/>
            <a:ext cx="10515600" cy="32004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1 qubit per atomic type</a:t>
            </a:r>
            <a:endParaRPr lang="en-US" sz="1500" dirty="0"/>
          </a:p>
        </p:txBody>
      </p:sp>
      <p:sp>
        <p:nvSpPr>
          <p:cNvPr id="19" name="Text 17"/>
          <p:cNvSpPr/>
          <p:nvPr/>
        </p:nvSpPr>
        <p:spPr>
          <a:xfrm>
            <a:off x="1280160" y="4617720"/>
            <a:ext cx="10515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This is what causes Spiders to saturate. Wider atomic types would change the picture.</a:t>
            </a:r>
            <a:endParaRPr lang="en-US" sz="1200" dirty="0"/>
          </a:p>
        </p:txBody>
      </p:sp>
      <p:sp>
        <p:nvSpPr>
          <p:cNvPr id="20" name="Shape 18"/>
          <p:cNvSpPr/>
          <p:nvPr/>
        </p:nvSpPr>
        <p:spPr>
          <a:xfrm>
            <a:off x="457200" y="5212080"/>
            <a:ext cx="640080" cy="640080"/>
          </a:xfrm>
          <a:prstGeom prst="ellipse">
            <a:avLst/>
          </a:prstGeom>
          <a:solidFill>
            <a:srgbClr val="1E2761"/>
          </a:solidFill>
          <a:ln/>
        </p:spPr>
      </p:sp>
      <p:sp>
        <p:nvSpPr>
          <p:cNvPr id="21" name="Text 19"/>
          <p:cNvSpPr/>
          <p:nvPr/>
        </p:nvSpPr>
        <p:spPr>
          <a:xfrm>
            <a:off x="457200" y="521208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22" name="Text 20"/>
          <p:cNvSpPr/>
          <p:nvPr/>
        </p:nvSpPr>
        <p:spPr>
          <a:xfrm>
            <a:off x="1280160" y="5212080"/>
            <a:ext cx="10515600" cy="32004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No BobcatParser</a:t>
            </a:r>
            <a:endParaRPr lang="en-US" sz="1500" dirty="0"/>
          </a:p>
        </p:txBody>
      </p:sp>
      <p:sp>
        <p:nvSpPr>
          <p:cNvPr id="23" name="Text 21"/>
          <p:cNvSpPr/>
          <p:nvPr/>
        </p:nvSpPr>
        <p:spPr>
          <a:xfrm>
            <a:off x="1280160" y="5532120"/>
            <a:ext cx="10515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lambeq's CCG model URL went offline. We could not test the most informative reader.</a:t>
            </a:r>
            <a:endParaRPr lang="en-US" sz="12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i="1" dirty="0">
                <a:solidFill>
                  <a:srgbClr val="64748B"/>
                </a:solidFill>
              </a:rPr>
              <a:t>QNLP DisCoCat | Banking University HCMC</a:t>
            </a:r>
            <a:endParaRPr lang="en-US" sz="900" dirty="0"/>
          </a:p>
        </p:txBody>
      </p:sp>
      <p:sp>
        <p:nvSpPr>
          <p:cNvPr id="25" name="Text 23"/>
          <p:cNvSpPr/>
          <p:nvPr/>
        </p:nvSpPr>
        <p:spPr>
          <a:xfrm>
            <a:off x="11155680" y="6446520"/>
            <a:ext cx="731520" cy="274320"/>
          </a:xfrm>
          <a:prstGeom prst="rect">
            <a:avLst/>
          </a:prstGeom>
          <a:noFill/>
          <a:ln/>
        </p:spPr>
        <p:txBody>
          <a:bodyPr wrap="square" lIns="0" tIns="0" rIns="0" bIns="0" rtlCol="0" anchor="ctr"/>
          <a:lstStyle/>
          <a:p>
            <a:pPr algn="r" indent="0" marL="0">
              <a:buNone/>
            </a:pPr>
            <a:r>
              <a:rPr lang="en-US" sz="900" dirty="0">
                <a:solidFill>
                  <a:srgbClr val="64748B"/>
                </a:solidFill>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4864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 &amp; Future Work</a:t>
            </a:r>
            <a:endParaRPr lang="en-US" sz="3200" dirty="0"/>
          </a:p>
        </p:txBody>
      </p:sp>
      <p:sp>
        <p:nvSpPr>
          <p:cNvPr id="3" name="Text 1"/>
          <p:cNvSpPr/>
          <p:nvPr/>
        </p:nvSpPr>
        <p:spPr>
          <a:xfrm>
            <a:off x="548640" y="1645920"/>
            <a:ext cx="5486400" cy="457200"/>
          </a:xfrm>
          <a:prstGeom prst="rect">
            <a:avLst/>
          </a:prstGeom>
          <a:noFill/>
          <a:ln/>
        </p:spPr>
        <p:txBody>
          <a:bodyPr wrap="square" lIns="0" tIns="0" rIns="0" bIns="0"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Key takeaways</a:t>
            </a:r>
            <a:endParaRPr lang="en-US" sz="1800" dirty="0"/>
          </a:p>
        </p:txBody>
      </p:sp>
      <p:sp>
        <p:nvSpPr>
          <p:cNvPr id="4" name="Text 2"/>
          <p:cNvSpPr/>
          <p:nvPr/>
        </p:nvSpPr>
        <p:spPr>
          <a:xfrm>
            <a:off x="548640" y="2194560"/>
            <a:ext cx="5486400" cy="3657600"/>
          </a:xfrm>
          <a:prstGeom prst="rect">
            <a:avLst/>
          </a:prstGeom>
          <a:noFill/>
          <a:ln/>
        </p:spPr>
        <p:txBody>
          <a:bodyPr wrap="square" rtlCol="0" anchor="ctr"/>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Quantum DisCoCat ties BiLSTM with 28× fewer parameters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Reader choice matters more than depth or ansatz family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Barren plateaus are real and survive standard mitigations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Two-stage sampling is essential for QNLP — symbol-table integrity is non-negotiable</a:t>
            </a:r>
            <a:endParaRPr lang="en-US" sz="1400" dirty="0"/>
          </a:p>
        </p:txBody>
      </p:sp>
      <p:sp>
        <p:nvSpPr>
          <p:cNvPr id="5" name="Text 3"/>
          <p:cNvSpPr/>
          <p:nvPr/>
        </p:nvSpPr>
        <p:spPr>
          <a:xfrm>
            <a:off x="6400800" y="1645920"/>
            <a:ext cx="5486400" cy="457200"/>
          </a:xfrm>
          <a:prstGeom prst="rect">
            <a:avLst/>
          </a:prstGeom>
          <a:noFill/>
          <a:ln/>
        </p:spPr>
        <p:txBody>
          <a:bodyPr wrap="square" lIns="0" tIns="0" rIns="0" bIns="0"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Future directions</a:t>
            </a:r>
            <a:endParaRPr lang="en-US" sz="1800" dirty="0"/>
          </a:p>
        </p:txBody>
      </p:sp>
      <p:sp>
        <p:nvSpPr>
          <p:cNvPr id="6" name="Text 4"/>
          <p:cNvSpPr/>
          <p:nvPr/>
        </p:nvSpPr>
        <p:spPr>
          <a:xfrm>
            <a:off x="6400800" y="2194560"/>
            <a:ext cx="5486400" cy="3657600"/>
          </a:xfrm>
          <a:prstGeom prst="rect">
            <a:avLst/>
          </a:prstGeom>
          <a:noFill/>
          <a:ln/>
        </p:spPr>
        <p:txBody>
          <a:bodyPr wrap="square" rtlCol="0" anchor="ctr"/>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Higher-dim atomic types (qN = qS = 2) to unsaturate Spiders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Alternative CCG parsers (DepCCG, custom trained)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Real NISQ hardware (IBM, IonQ, Quantinuum H1)</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Multi-class sentiment (SST-5)</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Vietnamese short-phrase QNLP for cross-lingual study</a:t>
            </a:r>
            <a:endParaRPr lang="en-US" sz="1400" dirty="0"/>
          </a:p>
        </p:txBody>
      </p:sp>
      <p:sp>
        <p:nvSpPr>
          <p:cNvPr id="7" name="Shape 5"/>
          <p:cNvSpPr/>
          <p:nvPr/>
        </p:nvSpPr>
        <p:spPr>
          <a:xfrm>
            <a:off x="548640" y="5943600"/>
            <a:ext cx="10972800" cy="548640"/>
          </a:xfrm>
          <a:prstGeom prst="rect">
            <a:avLst/>
          </a:prstGeom>
          <a:solidFill>
            <a:srgbClr val="F96167"/>
          </a:solidFill>
          <a:ln/>
        </p:spPr>
      </p:sp>
      <p:sp>
        <p:nvSpPr>
          <p:cNvPr id="8" name="Text 6"/>
          <p:cNvSpPr/>
          <p:nvPr/>
        </p:nvSpPr>
        <p:spPr>
          <a:xfrm>
            <a:off x="548640" y="5943600"/>
            <a:ext cx="1097280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QNLP DisCoCat - Defense Slides</dc:title>
  <dc:subject>PptxGenJS Presentation</dc:subject>
  <dc:creator>Nhat-Linh Do</dc:creator>
  <cp:lastModifiedBy>Nhat-Linh Do</cp:lastModifiedBy>
  <cp:revision>1</cp:revision>
  <dcterms:created xsi:type="dcterms:W3CDTF">2026-05-29T07:52:49Z</dcterms:created>
  <dcterms:modified xsi:type="dcterms:W3CDTF">2026-05-29T07:52:49Z</dcterms:modified>
</cp:coreProperties>
</file>